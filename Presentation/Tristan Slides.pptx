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5011" r:id="rId4"/>
  </p:sldMasterIdLst>
  <p:notesMasterIdLst>
    <p:notesMasterId r:id="rId9"/>
  </p:notesMasterIdLst>
  <p:handoutMasterIdLst>
    <p:handoutMasterId r:id="rId10"/>
  </p:handoutMasterIdLst>
  <p:sldIdLst>
    <p:sldId id="267" r:id="rId5"/>
    <p:sldId id="270" r:id="rId6"/>
    <p:sldId id="268" r:id="rId7"/>
    <p:sldId id="269" r:id="rId8"/>
  </p:sldIdLst>
  <p:sldSz cx="12192000" cy="6858000"/>
  <p:notesSz cx="6858000" cy="9144000"/>
  <p:custDataLst>
    <p:tags r:id="rId1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notes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CECEE"/>
    <a:srgbClr val="1A1A20"/>
    <a:srgbClr val="FF8000"/>
    <a:srgbClr val="E4312C"/>
    <a:srgbClr val="0092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9486" autoAdjust="0"/>
  </p:normalViewPr>
  <p:slideViewPr>
    <p:cSldViewPr showGuides="1">
      <p:cViewPr varScale="1">
        <p:scale>
          <a:sx n="124" d="100"/>
          <a:sy n="124" d="100"/>
        </p:scale>
        <p:origin x="1352" y="16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691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howGuides="1">
      <p:cViewPr varScale="1">
        <p:scale>
          <a:sx n="85" d="100"/>
          <a:sy n="85" d="100"/>
        </p:scale>
        <p:origin x="-3786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B3FC99-108D-4695-8AF1-2D7D2FAECB94}" type="datetimeFigureOut">
              <a:rPr lang="en-US" smtClean="0"/>
              <a:pPr/>
              <a:t>1/26/26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23632F-4A90-4A2D-9731-9ADAF86519F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796787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6A9597-787D-4A4E-A08C-2F4F459F2753}" type="datetimeFigureOut">
              <a:rPr lang="en-US" smtClean="0"/>
              <a:pPr/>
              <a:t>1/26/26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7915E-8BAF-4DB5-8BE1-35DD7C1B4FFD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45844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1pPr>
    <a:lvl2pPr marL="536433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2pPr>
    <a:lvl3pPr marL="1072866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3pPr>
    <a:lvl4pPr marL="1609298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4pPr>
    <a:lvl5pPr marL="2145731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5pPr>
    <a:lvl6pPr marL="2682164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6pPr>
    <a:lvl7pPr marL="3218597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7pPr>
    <a:lvl8pPr marL="3755029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8pPr>
    <a:lvl9pPr marL="4291462" algn="l" defTabSz="1072866" rtl="0" eaLnBrk="1" latinLnBrk="0" hangingPunct="1">
      <a:defRPr sz="140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0" y="233951"/>
            <a:ext cx="3935784" cy="788804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0" y="1196975"/>
            <a:ext cx="12192000" cy="5661025"/>
          </a:xfrm>
        </p:spPr>
        <p:txBody>
          <a:bodyPr/>
          <a:lstStyle>
            <a:lvl1pPr>
              <a:defRPr baseline="-250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Spreker + datum">
            <a:extLst>
              <a:ext uri="{FF2B5EF4-FFF2-40B4-BE49-F238E27FC236}">
                <a16:creationId xmlns:a16="http://schemas.microsoft.com/office/drawing/2014/main" id="{22050EA1-CA9C-4396-8218-E69567FC45D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5337" y="5589240"/>
            <a:ext cx="4652591" cy="487833"/>
          </a:xfrm>
          <a:solidFill>
            <a:schemeClr val="bg1">
              <a:lumMod val="85000"/>
            </a:schemeClr>
          </a:solidFill>
        </p:spPr>
        <p:txBody>
          <a:bodyPr tIns="180000">
            <a:normAutofit/>
          </a:bodyPr>
          <a:lstStyle>
            <a:lvl1pPr>
              <a:defRPr sz="1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nl-NL" dirty="0"/>
              <a:t>Spreker + Datum</a:t>
            </a:r>
            <a:br>
              <a:rPr lang="nl-NL" dirty="0"/>
            </a:br>
            <a:endParaRPr lang="nl-NL"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CB010751-BA61-49BF-A388-64D88C63E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5336" y="4293096"/>
            <a:ext cx="4652591" cy="1296144"/>
          </a:xfrm>
          <a:solidFill>
            <a:schemeClr val="bg1"/>
          </a:solidFill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13C1930B-82DE-4C71-BB08-517E65612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336" y="3826564"/>
            <a:ext cx="4652592" cy="466532"/>
          </a:xfrm>
          <a:solidFill>
            <a:schemeClr val="bg1"/>
          </a:solidFill>
        </p:spPr>
        <p:txBody>
          <a:bodyPr tIns="144000">
            <a:normAutofit/>
          </a:bodyPr>
          <a:lstStyle>
            <a:lvl1pPr marL="0" indent="0" algn="l">
              <a:buNone/>
              <a:defRPr sz="16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 dirty="0"/>
          </a:p>
        </p:txBody>
      </p:sp>
      <p:sp>
        <p:nvSpPr>
          <p:cNvPr id="8" name="TextBox 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620688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80234"/>
            <a:ext cx="381000" cy="381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12792744" y="2156298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je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12397928" y="2215821"/>
            <a:ext cx="288032" cy="276999"/>
            <a:chOff x="12494133" y="2712391"/>
            <a:chExt cx="288032" cy="276999"/>
          </a:xfrm>
        </p:grpSpPr>
        <p:sp>
          <p:nvSpPr>
            <p:cNvPr id="16" name="Rectangle 1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Rectangle 17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/>
          <p:cNvSpPr txBox="1"/>
          <p:nvPr userDrawn="1"/>
        </p:nvSpPr>
        <p:spPr>
          <a:xfrm>
            <a:off x="12791363" y="3798204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1302" y="5136676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Straight Connector 24"/>
          <p:cNvCxnSpPr/>
          <p:nvPr userDrawn="1"/>
        </p:nvCxnSpPr>
        <p:spPr>
          <a:xfrm>
            <a:off x="12388482" y="569530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/>
          <p:cNvGrpSpPr/>
          <p:nvPr userDrawn="1"/>
        </p:nvGrpSpPr>
        <p:grpSpPr>
          <a:xfrm>
            <a:off x="12397928" y="2861179"/>
            <a:ext cx="288032" cy="276999"/>
            <a:chOff x="12492689" y="2721406"/>
            <a:chExt cx="288032" cy="276999"/>
          </a:xfrm>
        </p:grpSpPr>
        <p:sp>
          <p:nvSpPr>
            <p:cNvPr id="27" name="Rectangle 2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9" name="Straight Connector 28"/>
          <p:cNvCxnSpPr/>
          <p:nvPr userDrawn="1"/>
        </p:nvCxnSpPr>
        <p:spPr>
          <a:xfrm>
            <a:off x="12396700" y="273236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 userDrawn="1"/>
        </p:nvCxnSpPr>
        <p:spPr>
          <a:xfrm>
            <a:off x="12370968" y="208429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25"/>
          <p:cNvSpPr txBox="1"/>
          <p:nvPr userDrawn="1"/>
        </p:nvSpPr>
        <p:spPr>
          <a:xfrm>
            <a:off x="12846660" y="2890242"/>
            <a:ext cx="172819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Klik vervolgens bij het onderdeel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‘Schikken’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‘Naar achtergrond’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2" name="Group 31"/>
          <p:cNvGrpSpPr/>
          <p:nvPr userDrawn="1"/>
        </p:nvGrpSpPr>
        <p:grpSpPr>
          <a:xfrm>
            <a:off x="12421465" y="3800073"/>
            <a:ext cx="288032" cy="276999"/>
            <a:chOff x="12492689" y="2721406"/>
            <a:chExt cx="288032" cy="276999"/>
          </a:xfrm>
        </p:grpSpPr>
        <p:sp>
          <p:nvSpPr>
            <p:cNvPr id="33" name="Rectangle 3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35" name="Straight Connector 34"/>
          <p:cNvCxnSpPr/>
          <p:nvPr userDrawn="1"/>
        </p:nvCxnSpPr>
        <p:spPr>
          <a:xfrm>
            <a:off x="12385533" y="3717032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25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8" pos="668">
          <p15:clr>
            <a:srgbClr val="FBAE40"/>
          </p15:clr>
        </p15:guide>
        <p15:guide id="9" pos="4567">
          <p15:clr>
            <a:srgbClr val="FBAE40"/>
          </p15:clr>
        </p15:guide>
        <p15:guide id="11" orient="horz" pos="3816" userDrawn="1">
          <p15:clr>
            <a:srgbClr val="FBAE40"/>
          </p15:clr>
        </p15:guide>
        <p15:guide id="12" orient="horz" pos="3528" userDrawn="1">
          <p15:clr>
            <a:srgbClr val="FBAE40"/>
          </p15:clr>
        </p15:guide>
        <p15:guide id="13" pos="501" userDrawn="1">
          <p15:clr>
            <a:srgbClr val="FBAE40"/>
          </p15:clr>
        </p15:guide>
        <p15:guide id="14" pos="3425" userDrawn="1">
          <p15:clr>
            <a:srgbClr val="FBAE40"/>
          </p15:clr>
        </p15:guide>
        <p15:guide id="15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600" y="1980000"/>
            <a:ext cx="11148649" cy="4617031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  <a:ea typeface="Source Sans Pro" panose="020B0503030403020204" pitchFamily="34" charset="0"/>
              </a:defRPr>
            </a:lvl1pPr>
            <a:lvl2pPr>
              <a:defRPr>
                <a:latin typeface="+mj-lt"/>
                <a:ea typeface="Source Sans Pro" panose="020B0503030403020204" pitchFamily="34" charset="0"/>
              </a:defRPr>
            </a:lvl2pPr>
            <a:lvl3pPr>
              <a:defRPr>
                <a:latin typeface="+mj-lt"/>
                <a:ea typeface="Source Sans Pro" panose="020B0503030403020204" pitchFamily="34" charset="0"/>
              </a:defRPr>
            </a:lvl3pPr>
            <a:lvl4pPr>
              <a:defRPr>
                <a:solidFill>
                  <a:schemeClr val="accent1"/>
                </a:solidFill>
                <a:latin typeface="+mj-lt"/>
                <a:ea typeface="Source Sans Pro" panose="020B0503030403020204" pitchFamily="34" charset="0"/>
              </a:defRPr>
            </a:lvl4pPr>
            <a:lvl5pPr>
              <a:defRPr>
                <a:solidFill>
                  <a:schemeClr val="accent1"/>
                </a:solidFill>
                <a:latin typeface="+mj-lt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F7EDB-0AEE-417F-9CB5-243BC8B4D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907200"/>
            <a:ext cx="11159196" cy="936103"/>
          </a:xfrm>
        </p:spPr>
        <p:txBody>
          <a:bodyPr/>
          <a:lstStyle>
            <a:lvl1pPr>
              <a:defRPr b="1"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x-none"/>
          </a:p>
        </p:txBody>
      </p:sp>
      <p:sp>
        <p:nvSpPr>
          <p:cNvPr id="4" name="TextBox 3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TextBox 15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0" name="Rectangle 1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2" name="Group 21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7057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met 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9315" y="1980000"/>
            <a:ext cx="6398773" cy="46307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 useBgFill="1">
        <p:nvSpPr>
          <p:cNvPr id="9" name="Chart Placeholder 8">
            <a:extLst>
              <a:ext uri="{FF2B5EF4-FFF2-40B4-BE49-F238E27FC236}">
                <a16:creationId xmlns:a16="http://schemas.microsoft.com/office/drawing/2014/main" id="{006DB82F-8DD8-4627-ADF9-B9C04CE52499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7104063" y="1980000"/>
            <a:ext cx="4545012" cy="463073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chart</a:t>
            </a:r>
            <a:endParaRPr lang="nl-NL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3FEB5E-4A4C-4FFF-87D9-D1B9FD8CED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8361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0/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Picture Placeholder 9">
            <a:extLst>
              <a:ext uri="{FF2B5EF4-FFF2-40B4-BE49-F238E27FC236}">
                <a16:creationId xmlns:a16="http://schemas.microsoft.com/office/drawing/2014/main" id="{7D111C98-D5EF-4008-AE50-102F4F1993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56362" y="0"/>
            <a:ext cx="5735638" cy="6858000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600" y="907200"/>
            <a:ext cx="5616576" cy="936103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7496B7-E71A-4615-93AC-7A3B3AB33B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9600" y="1980000"/>
            <a:ext cx="5616576" cy="4249191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50% tekst + 50% afbeelding 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22" name="Group 21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oup 33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5" name="Rectangle 3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TextBox 3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Picture 3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2" name="Group 41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Rectangle 44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9" name="Straight Connector 48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51" name="Rectangle 5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3" name="Straight Connector 52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76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120">
          <p15:clr>
            <a:srgbClr val="FBAE40"/>
          </p15:clr>
        </p15:guide>
        <p15:guide id="4" pos="5423">
          <p15:clr>
            <a:srgbClr val="FBAE40"/>
          </p15:clr>
        </p15:guide>
        <p15:guide id="5" pos="3840" userDrawn="1">
          <p15:clr>
            <a:srgbClr val="FBAE40"/>
          </p15:clr>
        </p15:guide>
        <p15:guide id="6" pos="40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0/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Picture Placeholder 9">
            <a:extLst>
              <a:ext uri="{FF2B5EF4-FFF2-40B4-BE49-F238E27FC236}">
                <a16:creationId xmlns:a16="http://schemas.microsoft.com/office/drawing/2014/main" id="{7D111C98-D5EF-4008-AE50-102F4F1993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16616" y="0"/>
            <a:ext cx="3475383" cy="6858000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600" y="907200"/>
            <a:ext cx="7992887" cy="936103"/>
          </a:xfrm>
        </p:spPr>
        <p:txBody>
          <a:bodyPr anchor="b"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7496B7-E71A-4615-93AC-7A3B3AB33B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9600" y="1980000"/>
            <a:ext cx="7992887" cy="4249191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75% tekst + 25% afbeelding 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TextBox 15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22" name="Group 21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23" name="Rectangle 2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5" name="Group 24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26" name="Rectangle 2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8" name="Group 27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29" name="Rectangle 2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1" name="Group 30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32" name="Rectangle 3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4" name="Group 33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35" name="Rectangle 3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7" name="TextBox 3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" name="Picture 3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2" name="Group 41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Rectangle 44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8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9" name="Straight Connector 48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51" name="Rectangle 5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53" name="Straight Connector 52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201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13">
          <p15:clr>
            <a:srgbClr val="FBAE40"/>
          </p15:clr>
        </p15:guide>
        <p15:guide id="3" pos="54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eldslide met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589891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3" name="Picture Placeholder 2">
            <a:extLst>
              <a:ext uri="{FF2B5EF4-FFF2-40B4-BE49-F238E27FC236}">
                <a16:creationId xmlns:a16="http://schemas.microsoft.com/office/drawing/2014/main" id="{8DD10328-45F6-471F-834D-92E7E7ED225F}"/>
              </a:ext>
            </a:extLst>
          </p:cNvPr>
          <p:cNvSpPr>
            <a:spLocks noGrp="1" noChangeAspect="1"/>
          </p:cNvSpPr>
          <p:nvPr>
            <p:ph type="pic" idx="1" hasCustomPrompt="1"/>
          </p:nvPr>
        </p:nvSpPr>
        <p:spPr>
          <a:xfrm>
            <a:off x="0" y="1556792"/>
            <a:ext cx="12192000" cy="530120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marL="0" indent="0" algn="ctr">
              <a:buNone/>
              <a:defRPr sz="320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met titel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Straight Connector 2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 3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0" name="Straight Connector 3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42" name="Rectangle 4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44" name="Straight Connector 4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304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eld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1544" y="4797152"/>
            <a:ext cx="8136904" cy="1368152"/>
          </a:xfrm>
        </p:spPr>
        <p:txBody>
          <a:bodyPr anchor="ctr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0" y="0"/>
            <a:ext cx="12192000" cy="6855555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marL="0" indent="0" algn="ctr">
              <a:buNone/>
              <a:defRPr sz="320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Tussenpagina</a:t>
            </a:r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afbeelding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9" name="Straight Connector 2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Rectangle 3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0" name="Straight Connector 3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42" name="Rectangle 4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44" name="Straight Connector 4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582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ductieslide 2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76263" y="2355850"/>
            <a:ext cx="2395537" cy="241458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9" name="Picture Placeholder 7">
            <a:extLst>
              <a:ext uri="{FF2B5EF4-FFF2-40B4-BE49-F238E27FC236}">
                <a16:creationId xmlns:a16="http://schemas.microsoft.com/office/drawing/2014/main" id="{4769E892-37BD-4E39-8C67-8E1525991DF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21413" y="2364240"/>
            <a:ext cx="2416175" cy="2406198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F43F37-6578-4009-AFA1-F16E909D77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190461" y="2355850"/>
            <a:ext cx="2905539" cy="2414588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1825921-4BAC-4A30-9D68-5E3CC234D6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42972" y="2355850"/>
            <a:ext cx="2905539" cy="241458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Introductiepagina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Straight Connector 35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" name="TextBox 38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2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" name="TextBox 42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7" name="TextBox 46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48" name="TextBox 47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49" name="Group 48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50" name="Rectangle 4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2" name="Group 51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53" name="Rectangle 5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5" name="Group 54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56" name="Rectangle 5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8" name="Group 57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59" name="Rectangle 5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1" name="Group 60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62" name="Rectangle 6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2" name="TextBox 81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3" name="Straight Connector 82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5" name="Picture 8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86" name="TextBox 85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7" name="Group 86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88" name="Rectangle 87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0" name="Rectangle 89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TextBox 91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3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4" name="Straight Connector 93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Group 94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96" name="Rectangle 95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98" name="Straight Connector 97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0520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pos="5225">
          <p15:clr>
            <a:srgbClr val="FBAE40"/>
          </p15:clr>
        </p15:guide>
        <p15:guide id="8" pos="7255">
          <p15:clr>
            <a:srgbClr val="FBAE40"/>
          </p15:clr>
        </p15:guide>
        <p15:guide id="9" pos="2496">
          <p15:clr>
            <a:srgbClr val="FBAE40"/>
          </p15:clr>
        </p15:guide>
        <p15:guide id="10" pos="484">
          <p15:clr>
            <a:srgbClr val="FBAE40"/>
          </p15:clr>
        </p15:guide>
        <p15:guide id="13" pos="3919" userDrawn="1">
          <p15:clr>
            <a:srgbClr val="FBAE40"/>
          </p15:clr>
        </p15:guide>
        <p15:guide id="14" pos="5441" userDrawn="1">
          <p15:clr>
            <a:srgbClr val="FBAE40"/>
          </p15:clr>
        </p15:guide>
        <p15:guide id="15" pos="1872" userDrawn="1">
          <p15:clr>
            <a:srgbClr val="FBAE40"/>
          </p15:clr>
        </p15:guide>
        <p15:guide id="16" pos="363" userDrawn="1">
          <p15:clr>
            <a:srgbClr val="FBAE40"/>
          </p15:clr>
        </p15:guide>
        <p15:guide id="17" orient="horz" pos="1484" userDrawn="1">
          <p15:clr>
            <a:srgbClr val="FBAE40"/>
          </p15:clr>
        </p15:guide>
        <p15:guide id="18" orient="horz" pos="30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ema/Introductieslide 4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460690" y="1933507"/>
            <a:ext cx="2415600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9" name="Picture Placeholder 7">
            <a:extLst>
              <a:ext uri="{FF2B5EF4-FFF2-40B4-BE49-F238E27FC236}">
                <a16:creationId xmlns:a16="http://schemas.microsoft.com/office/drawing/2014/main" id="{4769E892-37BD-4E39-8C67-8E1525991DF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4200" y="1933507"/>
            <a:ext cx="2416175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F43F37-6578-4009-AFA1-F16E909D77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1825921-4BAC-4A30-9D68-5E3CC234D6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91625" y="4433068"/>
            <a:ext cx="241235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 useBgFill="1">
        <p:nvSpPr>
          <p:cNvPr id="10" name="Picture Placeholder 7">
            <a:extLst>
              <a:ext uri="{FF2B5EF4-FFF2-40B4-BE49-F238E27FC236}">
                <a16:creationId xmlns:a16="http://schemas.microsoft.com/office/drawing/2014/main" id="{35C5B6DC-BE5E-43A2-941D-79AA88A715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15178" y="1933507"/>
            <a:ext cx="2415600" cy="2431597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3" name="Picture Placeholder 7">
            <a:extLst>
              <a:ext uri="{FF2B5EF4-FFF2-40B4-BE49-F238E27FC236}">
                <a16:creationId xmlns:a16="http://schemas.microsoft.com/office/drawing/2014/main" id="{282B1D46-10CA-47BE-8746-C599AF7EAF2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91625" y="1933507"/>
            <a:ext cx="2416175" cy="2431596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4D248D55-288A-4EC0-AC4C-C8DA816AB3F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50506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A808D4E-A7D5-418F-9DB7-994EFE72ED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25319" y="4433068"/>
            <a:ext cx="2416175" cy="23083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buNone/>
              <a:defRPr lang="en-US" sz="1800" i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9063" indent="-119063">
              <a:tabLst/>
              <a:defRPr sz="12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16" name="TextBox 15"/>
          <p:cNvSpPr txBox="1"/>
          <p:nvPr userDrawn="1"/>
        </p:nvSpPr>
        <p:spPr>
          <a:xfrm>
            <a:off x="-2508956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Werken met tekst niveaus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Straight Connector 16"/>
          <p:cNvCxnSpPr/>
          <p:nvPr userDrawn="1"/>
        </p:nvCxnSpPr>
        <p:spPr>
          <a:xfrm>
            <a:off x="-2436948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 userDrawn="1"/>
        </p:nvCxnSpPr>
        <p:spPr>
          <a:xfrm>
            <a:off x="-2436948" y="205438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62" t="15444" r="5868" b="19995"/>
          <a:stretch/>
        </p:blipFill>
        <p:spPr bwMode="auto">
          <a:xfrm>
            <a:off x="-2310934" y="1272882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19"/>
          <p:cNvSpPr txBox="1"/>
          <p:nvPr userDrawn="1"/>
        </p:nvSpPr>
        <p:spPr>
          <a:xfrm>
            <a:off x="-2409976" y="476672"/>
            <a:ext cx="21332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Het UvA sjabloon heeft een aantal voorgeprogrammeerde tekst niveaus. Ga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‘Home’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‘Alinea’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om eenvoudig te schakelen tussen de verschillende niveaus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-1896800" y="1693275"/>
            <a:ext cx="1080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omlaag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/>
          <p:cNvSpPr txBox="1"/>
          <p:nvPr userDrawn="1"/>
        </p:nvSpPr>
        <p:spPr>
          <a:xfrm>
            <a:off x="-1896888" y="1322862"/>
            <a:ext cx="108012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Niveau omhoog</a:t>
            </a:r>
            <a:endParaRPr lang="en-US" sz="9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5" t="13612" r="47155" b="21827"/>
          <a:stretch/>
        </p:blipFill>
        <p:spPr bwMode="auto">
          <a:xfrm>
            <a:off x="-2310934" y="1628800"/>
            <a:ext cx="321174" cy="313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/>
          <p:cNvSpPr txBox="1"/>
          <p:nvPr userDrawn="1"/>
        </p:nvSpPr>
        <p:spPr>
          <a:xfrm>
            <a:off x="-2508956" y="2084657"/>
            <a:ext cx="1376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Tekstniveaus</a:t>
            </a:r>
            <a:endParaRPr lang="en-US" sz="1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 userDrawn="1"/>
        </p:nvSpPr>
        <p:spPr>
          <a:xfrm>
            <a:off x="-2166918" y="245342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dirty="0">
                <a:latin typeface="+mj-lt"/>
                <a:cs typeface="Arial" panose="020B0604020202020204" pitchFamily="34" charset="0"/>
              </a:rPr>
              <a:t>Platte tekst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 userDrawn="1"/>
        </p:nvSpPr>
        <p:spPr>
          <a:xfrm>
            <a:off x="-2169590" y="2723262"/>
            <a:ext cx="18542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(24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7" name="TextBox 26"/>
          <p:cNvSpPr txBox="1"/>
          <p:nvPr userDrawn="1"/>
        </p:nvSpPr>
        <p:spPr>
          <a:xfrm>
            <a:off x="-2083419" y="3023105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1" indent="-180975">
              <a:buFont typeface="Arial" panose="020B0604020202020204" pitchFamily="34" charset="0"/>
              <a:buChar char="•"/>
            </a:pPr>
            <a:r>
              <a:rPr lang="nl-NL" sz="1000" dirty="0">
                <a:latin typeface="+mj-lt"/>
                <a:cs typeface="Arial" panose="020B0604020202020204" pitchFamily="34" charset="0"/>
              </a:rPr>
              <a:t>Sub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Bullet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 (16 </a:t>
            </a:r>
            <a:r>
              <a:rPr lang="nl-NL" sz="1000" dirty="0" err="1">
                <a:latin typeface="+mj-lt"/>
                <a:cs typeface="Arial" panose="020B0604020202020204" pitchFamily="34" charset="0"/>
              </a:rPr>
              <a:t>pt</a:t>
            </a:r>
            <a:r>
              <a:rPr lang="nl-NL" sz="1000" dirty="0">
                <a:latin typeface="+mj-lt"/>
                <a:cs typeface="Arial" panose="020B0604020202020204" pitchFamily="34" charset="0"/>
              </a:rPr>
              <a:t>.)</a:t>
            </a:r>
            <a:endParaRPr lang="en-US" sz="1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-2083419" y="3329531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(24 </a:t>
            </a:r>
            <a:r>
              <a:rPr lang="nl-NL" sz="1000" b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b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b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-2093659" y="3636326"/>
            <a:ext cx="1693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Kopje (16 </a:t>
            </a:r>
            <a:r>
              <a:rPr lang="nl-NL" sz="1000" i="1" dirty="0" err="1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pt</a:t>
            </a:r>
            <a:r>
              <a:rPr lang="nl-NL" sz="1000" i="1" dirty="0">
                <a:solidFill>
                  <a:schemeClr val="accent1"/>
                </a:solidFill>
                <a:latin typeface="+mj-lt"/>
                <a:cs typeface="Arial" panose="020B0604020202020204" pitchFamily="34" charset="0"/>
              </a:rPr>
              <a:t>)</a:t>
            </a:r>
            <a:endParaRPr lang="en-US" sz="1000" i="1" dirty="0">
              <a:solidFill>
                <a:schemeClr val="accent1"/>
              </a:solidFill>
              <a:latin typeface="+mj-lt"/>
              <a:cs typeface="Arial" panose="020B0604020202020204" pitchFamily="34" charset="0"/>
            </a:endParaRPr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-2425457" y="2431921"/>
            <a:ext cx="288032" cy="276999"/>
            <a:chOff x="12492689" y="2721406"/>
            <a:chExt cx="288032" cy="276999"/>
          </a:xfrm>
        </p:grpSpPr>
        <p:sp>
          <p:nvSpPr>
            <p:cNvPr id="31" name="Rectangle 30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3" name="Group 32"/>
          <p:cNvGrpSpPr/>
          <p:nvPr userDrawn="1"/>
        </p:nvGrpSpPr>
        <p:grpSpPr>
          <a:xfrm>
            <a:off x="-2426044" y="2725767"/>
            <a:ext cx="288032" cy="276999"/>
            <a:chOff x="12492689" y="2721406"/>
            <a:chExt cx="288032" cy="276999"/>
          </a:xfrm>
        </p:grpSpPr>
        <p:sp>
          <p:nvSpPr>
            <p:cNvPr id="34" name="Rectangle 3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6" name="Group 35"/>
          <p:cNvGrpSpPr/>
          <p:nvPr userDrawn="1"/>
        </p:nvGrpSpPr>
        <p:grpSpPr>
          <a:xfrm>
            <a:off x="-2425457" y="3023105"/>
            <a:ext cx="288032" cy="276999"/>
            <a:chOff x="12492689" y="2721406"/>
            <a:chExt cx="288032" cy="276999"/>
          </a:xfrm>
        </p:grpSpPr>
        <p:sp>
          <p:nvSpPr>
            <p:cNvPr id="37" name="Rectangle 3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9" name="Group 38"/>
          <p:cNvGrpSpPr/>
          <p:nvPr userDrawn="1"/>
        </p:nvGrpSpPr>
        <p:grpSpPr>
          <a:xfrm>
            <a:off x="-2425457" y="3329531"/>
            <a:ext cx="288032" cy="276999"/>
            <a:chOff x="12492689" y="2721406"/>
            <a:chExt cx="288032" cy="276999"/>
          </a:xfrm>
        </p:grpSpPr>
        <p:sp>
          <p:nvSpPr>
            <p:cNvPr id="40" name="Rectangle 39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-2427768" y="3630519"/>
            <a:ext cx="288032" cy="276999"/>
            <a:chOff x="12492689" y="2721406"/>
            <a:chExt cx="288032" cy="276999"/>
          </a:xfrm>
        </p:grpSpPr>
        <p:sp>
          <p:nvSpPr>
            <p:cNvPr id="43" name="Rectangle 42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3" name="TextBox 62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4" name="Straight Connector 63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6" name="Picture 6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Group 67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69" name="Rectangle 68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71" name="Rectangle 70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TextBox 72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4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5" name="Straight Connector 74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77" name="Rectangle 7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79" name="Straight Connector 78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Introductiepagina 2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600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363">
          <p15:clr>
            <a:srgbClr val="FBAE40"/>
          </p15:clr>
        </p15:guide>
        <p15:guide id="7" pos="5301">
          <p15:clr>
            <a:srgbClr val="FBAE40"/>
          </p15:clr>
        </p15:guide>
        <p15:guide id="8" pos="7720">
          <p15:clr>
            <a:srgbClr val="FBAE40"/>
          </p15:clr>
        </p15:guide>
        <p15:guide id="9" pos="2883">
          <p15:clr>
            <a:srgbClr val="FBAE40"/>
          </p15:clr>
        </p15:guide>
        <p15:guide id="10" pos="484">
          <p15:clr>
            <a:srgbClr val="FBAE40"/>
          </p15:clr>
        </p15:guide>
        <p15:guide id="13" pos="3976" userDrawn="1">
          <p15:clr>
            <a:srgbClr val="FBAE40"/>
          </p15:clr>
        </p15:guide>
        <p15:guide id="14" pos="5790" userDrawn="1">
          <p15:clr>
            <a:srgbClr val="FBAE40"/>
          </p15:clr>
        </p15:guide>
        <p15:guide id="15" pos="2162" userDrawn="1">
          <p15:clr>
            <a:srgbClr val="FBAE40"/>
          </p15:clr>
        </p15:guide>
        <p15:guide id="16" orient="horz" pos="981" userDrawn="1">
          <p15:clr>
            <a:srgbClr val="FBAE40"/>
          </p15:clr>
        </p15:guide>
        <p15:guide id="17" orient="horz" pos="252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8059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4200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6" name="Picture Placeholder 7">
            <a:extLst>
              <a:ext uri="{FF2B5EF4-FFF2-40B4-BE49-F238E27FC236}">
                <a16:creationId xmlns:a16="http://schemas.microsoft.com/office/drawing/2014/main" id="{F3EBE767-6505-4CEF-AB07-52CB38903C1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112224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17" name="Picture Placeholder 7">
            <a:extLst>
              <a:ext uri="{FF2B5EF4-FFF2-40B4-BE49-F238E27FC236}">
                <a16:creationId xmlns:a16="http://schemas.microsoft.com/office/drawing/2014/main" id="{D0EE3735-77D9-4126-9A30-0D4B6017D65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48212" y="1937792"/>
            <a:ext cx="3495576" cy="4515544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4" name="Rectangle 1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Rectangle 17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" name="Straight Connector 21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4" name="Rectangle 2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6" name="Straight Connector 25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</a:t>
            </a:r>
            <a:r>
              <a:rPr lang="nl-NL" b="1" baseline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3x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444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6">
          <p15:clr>
            <a:srgbClr val="FBAE40"/>
          </p15:clr>
        </p15:guide>
        <p15:guide id="4" pos="363">
          <p15:clr>
            <a:srgbClr val="FBAE40"/>
          </p15:clr>
        </p15:guide>
        <p15:guide id="7" pos="5301">
          <p15:clr>
            <a:srgbClr val="FBAE40"/>
          </p15:clr>
        </p15:guide>
        <p15:guide id="8" pos="484">
          <p15:clr>
            <a:srgbClr val="FBAE40"/>
          </p15:clr>
        </p15:guide>
        <p15:guide id="9" orient="horz" pos="981">
          <p15:clr>
            <a:srgbClr val="FBAE40"/>
          </p15:clr>
        </p15:guide>
        <p15:guide id="10" orient="horz" pos="2523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slide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0D21EEC-E4A5-40DE-861A-A5D2970A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8" name="Picture Placeholder 7">
            <a:extLst>
              <a:ext uri="{FF2B5EF4-FFF2-40B4-BE49-F238E27FC236}">
                <a16:creationId xmlns:a16="http://schemas.microsoft.com/office/drawing/2014/main" id="{ED60D2CD-D95E-4DE8-81CF-F42051EAC35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79376" y="1988840"/>
            <a:ext cx="5400000" cy="4608512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 useBgFill="1">
        <p:nvSpPr>
          <p:cNvPr id="7" name="Picture Placeholder 7">
            <a:extLst>
              <a:ext uri="{FF2B5EF4-FFF2-40B4-BE49-F238E27FC236}">
                <a16:creationId xmlns:a16="http://schemas.microsoft.com/office/drawing/2014/main" id="{4685375D-185B-47C2-B347-B84257FEFA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0016" y="1988840"/>
            <a:ext cx="5400000" cy="4598609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picture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4" name="Rectangle 13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" name="Rectangle 15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0" name="Straight Connector 19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2" name="Rectangle 21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4" name="Straight Connector 23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 userDrawn="1"/>
        </p:nvSpPr>
        <p:spPr>
          <a:xfrm>
            <a:off x="6528048" y="-531440"/>
            <a:ext cx="5663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2x</a:t>
            </a:r>
            <a:endParaRPr lang="en-US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1898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363">
          <p15:clr>
            <a:srgbClr val="FBAE40"/>
          </p15:clr>
        </p15:guide>
        <p15:guide id="7" pos="484">
          <p15:clr>
            <a:srgbClr val="FBAE40"/>
          </p15:clr>
        </p15:guide>
        <p15:guide id="8" orient="horz" pos="981">
          <p15:clr>
            <a:srgbClr val="FBAE40"/>
          </p15:clr>
        </p15:guide>
        <p15:guide id="9" orient="horz" pos="2523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video (iMac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c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294" y="1668379"/>
            <a:ext cx="6430375" cy="4774256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489315" y="1915200"/>
            <a:ext cx="5606686" cy="44688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8" name="Rectangle 7"/>
          <p:cNvSpPr/>
          <p:nvPr/>
        </p:nvSpPr>
        <p:spPr>
          <a:xfrm>
            <a:off x="6302400" y="2006400"/>
            <a:ext cx="5505600" cy="284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2"/>
          </p:nvPr>
        </p:nvSpPr>
        <p:spPr>
          <a:xfrm>
            <a:off x="6302400" y="2006400"/>
            <a:ext cx="5505600" cy="28464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pic>
        <p:nvPicPr>
          <p:cNvPr id="9" name="Picture 8" descr="iMac.png">
            <a:extLst>
              <a:ext uri="{FF2B5EF4-FFF2-40B4-BE49-F238E27FC236}">
                <a16:creationId xmlns:a16="http://schemas.microsoft.com/office/drawing/2014/main" id="{C8FBE6D9-3C61-4A64-8829-1D01D752B6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294" y="1668379"/>
            <a:ext cx="6430375" cy="47742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4D704BE-186B-4873-9F53-FB8893678272}"/>
              </a:ext>
            </a:extLst>
          </p:cNvPr>
          <p:cNvSpPr/>
          <p:nvPr userDrawn="1"/>
        </p:nvSpPr>
        <p:spPr>
          <a:xfrm>
            <a:off x="6302400" y="2006400"/>
            <a:ext cx="5505600" cy="284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2288688" y="7640"/>
            <a:ext cx="2376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Afbeelding invoegen</a:t>
            </a:r>
            <a:endParaRPr lang="en-US" sz="14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12360696" y="404664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 userDrawn="1"/>
        </p:nvSpPr>
        <p:spPr>
          <a:xfrm>
            <a:off x="12792744" y="597246"/>
            <a:ext cx="17281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Wijzig de afbeelding door de bestaande afbeelding te verwijderen. Klik op het pictogram dat vervolgens verschijnt om een afbeelding in te voegen.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4752" y="1556792"/>
            <a:ext cx="3810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 userDrawn="1"/>
        </p:nvSpPr>
        <p:spPr>
          <a:xfrm>
            <a:off x="12792744" y="2132856"/>
            <a:ext cx="172819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Selecteer de afbeelding die u wilt invoegen 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‘Invoegen’</a:t>
            </a:r>
            <a:endParaRPr 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12397928" y="2192379"/>
            <a:ext cx="288032" cy="276999"/>
            <a:chOff x="12494133" y="2712391"/>
            <a:chExt cx="288032" cy="276999"/>
          </a:xfrm>
        </p:grpSpPr>
        <p:sp>
          <p:nvSpPr>
            <p:cNvPr id="17" name="Rectangle 16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2494133" y="2712391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9" name="Rectangle 18"/>
          <p:cNvSpPr/>
          <p:nvPr userDrawn="1"/>
        </p:nvSpPr>
        <p:spPr>
          <a:xfrm>
            <a:off x="12415930" y="670453"/>
            <a:ext cx="252028" cy="2520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 userDrawn="1"/>
        </p:nvSpPr>
        <p:spPr>
          <a:xfrm>
            <a:off x="12397928" y="657967"/>
            <a:ext cx="2880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2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12792744" y="2780928"/>
            <a:ext cx="17281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Wanneer je de afbeelding wilt schalen of verslepen, ga dan naar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‘Hulpmiddelen voor afbeeldingen’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en klik op </a:t>
            </a:r>
            <a:r>
              <a:rPr lang="nl-NL" sz="900" b="1" dirty="0">
                <a:latin typeface="Arial" panose="020B0604020202020204" pitchFamily="34" charset="0"/>
                <a:cs typeface="Arial" panose="020B0604020202020204" pitchFamily="34" charset="0"/>
              </a:rPr>
              <a:t>‘Bijsnijden’. </a:t>
            </a:r>
            <a:r>
              <a:rPr lang="nl-NL" sz="900" dirty="0">
                <a:latin typeface="Arial" panose="020B0604020202020204" pitchFamily="34" charset="0"/>
                <a:cs typeface="Arial" panose="020B0604020202020204" pitchFamily="34" charset="0"/>
              </a:rPr>
              <a:t>Met de witte bolletjes schaal je de afbeelding, met de zwarte haakjes schaal je het afbeeldingskader. 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5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9520" y="4156050"/>
            <a:ext cx="2714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3" name="Straight Connector 22"/>
          <p:cNvCxnSpPr/>
          <p:nvPr userDrawn="1"/>
        </p:nvCxnSpPr>
        <p:spPr>
          <a:xfrm>
            <a:off x="12396700" y="4714676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/>
          <p:cNvGrpSpPr/>
          <p:nvPr userDrawn="1"/>
        </p:nvGrpSpPr>
        <p:grpSpPr>
          <a:xfrm>
            <a:off x="12397928" y="2837737"/>
            <a:ext cx="288032" cy="276999"/>
            <a:chOff x="12492689" y="2721406"/>
            <a:chExt cx="288032" cy="276999"/>
          </a:xfrm>
        </p:grpSpPr>
        <p:sp>
          <p:nvSpPr>
            <p:cNvPr id="25" name="Rectangle 24"/>
            <p:cNvSpPr/>
            <p:nvPr/>
          </p:nvSpPr>
          <p:spPr>
            <a:xfrm>
              <a:off x="12507842" y="2721406"/>
              <a:ext cx="252028" cy="25202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2492689" y="2721406"/>
              <a:ext cx="2880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27" name="Straight Connector 26"/>
          <p:cNvCxnSpPr/>
          <p:nvPr userDrawn="1"/>
        </p:nvCxnSpPr>
        <p:spPr>
          <a:xfrm>
            <a:off x="12396700" y="2708920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 userDrawn="1"/>
        </p:nvCxnSpPr>
        <p:spPr>
          <a:xfrm>
            <a:off x="12370968" y="2060848"/>
            <a:ext cx="216024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1282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video (iPa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ipad.png">
            <a:extLst>
              <a:ext uri="{FF2B5EF4-FFF2-40B4-BE49-F238E27FC236}">
                <a16:creationId xmlns:a16="http://schemas.microsoft.com/office/drawing/2014/main" id="{72A91A83-7BEC-4DFC-9141-86C25E606E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1462436"/>
            <a:ext cx="4132447" cy="5206924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489315" y="1915200"/>
            <a:ext cx="5606686" cy="44688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8" name="Rectangle 7"/>
          <p:cNvSpPr/>
          <p:nvPr/>
        </p:nvSpPr>
        <p:spPr>
          <a:xfrm>
            <a:off x="7681354" y="2132856"/>
            <a:ext cx="3249600" cy="384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dirty="0"/>
          </a:p>
        </p:txBody>
      </p:sp>
      <p:pic>
        <p:nvPicPr>
          <p:cNvPr id="7" name="Picture 6" descr="ipad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1462436"/>
            <a:ext cx="4132447" cy="5206924"/>
          </a:xfrm>
          <a:prstGeom prst="rect">
            <a:avLst/>
          </a:prstGeom>
        </p:spPr>
      </p:pic>
      <p:sp>
        <p:nvSpPr>
          <p:cNvPr id="9" name="Content Placeholder 8"/>
          <p:cNvSpPr>
            <a:spLocks noGrp="1"/>
          </p:cNvSpPr>
          <p:nvPr>
            <p:ph sz="quarter" idx="12"/>
          </p:nvPr>
        </p:nvSpPr>
        <p:spPr>
          <a:xfrm>
            <a:off x="7680176" y="2132856"/>
            <a:ext cx="3249600" cy="3840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73CE4D-2F70-45E4-967A-9D739D4C3FC1}"/>
              </a:ext>
            </a:extLst>
          </p:cNvPr>
          <p:cNvSpPr/>
          <p:nvPr userDrawn="1"/>
        </p:nvSpPr>
        <p:spPr>
          <a:xfrm>
            <a:off x="7690730" y="2130610"/>
            <a:ext cx="3249600" cy="384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400" baseline="0" dirty="0"/>
          </a:p>
        </p:txBody>
      </p:sp>
    </p:spTree>
    <p:extLst>
      <p:ext uri="{BB962C8B-B14F-4D97-AF65-F5344CB8AC3E}">
        <p14:creationId xmlns:p14="http://schemas.microsoft.com/office/powerpoint/2010/main" val="2063110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Grafiek bre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92C6-2ACF-4B38-86C3-6C298EE6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4" y="907200"/>
            <a:ext cx="11223310" cy="93610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 useBgFill="1">
        <p:nvSpPr>
          <p:cNvPr id="4" name="Chart Placeholder 3">
            <a:extLst>
              <a:ext uri="{FF2B5EF4-FFF2-40B4-BE49-F238E27FC236}">
                <a16:creationId xmlns:a16="http://schemas.microsoft.com/office/drawing/2014/main" id="{5958EF81-0CFC-48FC-BE1D-A0A58BBF5B9A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479425" y="1898650"/>
            <a:ext cx="11269663" cy="4208463"/>
          </a:xfrm>
          <a:solidFill>
            <a:schemeClr val="accent1">
              <a:tint val="20000"/>
            </a:schemeClr>
          </a:solidFill>
        </p:spPr>
        <p:txBody>
          <a:bodyPr wrap="square" anchor="ctr"/>
          <a:lstStyle>
            <a:lvl1pPr algn="ctr">
              <a:defRPr>
                <a:solidFill>
                  <a:srgbClr val="000000"/>
                </a:solidFill>
              </a:defRPr>
            </a:lvl1pPr>
          </a:lstStyle>
          <a:p>
            <a:r>
              <a:rPr lang="nl-NL" dirty="0"/>
              <a:t>Click icon 
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chart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9917934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mart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AF520-9086-466E-9B79-4326410DA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14" y="907200"/>
            <a:ext cx="11223309" cy="93610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nl-NL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B1BBC81D-6CE2-4F98-83D0-5B508AF7F554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488951" y="1980000"/>
            <a:ext cx="11260138" cy="4208463"/>
          </a:xfr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none"/>
        </p:style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icon to add SmartArt graphic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30212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19" y="191126"/>
            <a:ext cx="2705229" cy="54217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9315" y="907200"/>
            <a:ext cx="11159196" cy="9361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14" y="1980000"/>
            <a:ext cx="11148649" cy="4617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880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012" r:id="rId1"/>
    <p:sldLayoutId id="2147485013" r:id="rId2"/>
    <p:sldLayoutId id="2147485014" r:id="rId3"/>
    <p:sldLayoutId id="2147485017" r:id="rId4"/>
    <p:sldLayoutId id="2147485018" r:id="rId5"/>
    <p:sldLayoutId id="2147485019" r:id="rId6"/>
    <p:sldLayoutId id="2147485020" r:id="rId7"/>
    <p:sldLayoutId id="2147485021" r:id="rId8"/>
    <p:sldLayoutId id="2147485022" r:id="rId9"/>
    <p:sldLayoutId id="2147485023" r:id="rId10"/>
    <p:sldLayoutId id="2147485024" r:id="rId11"/>
    <p:sldLayoutId id="2147485025" r:id="rId12"/>
    <p:sldLayoutId id="2147485027" r:id="rId13"/>
    <p:sldLayoutId id="2147485029" r:id="rId14"/>
    <p:sldLayoutId id="2147485030" r:id="rId15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accent1"/>
          </a:solidFill>
          <a:latin typeface="+mj-lt"/>
          <a:ea typeface="Source Sans Pro" panose="020B05030304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2pPr>
      <a:lvl3pPr marL="625475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j-lt"/>
          <a:ea typeface="Source Sans Pro" panose="020B0503030403020204" pitchFamily="34" charset="0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accent1"/>
          </a:solidFill>
          <a:latin typeface="+mj-lt"/>
          <a:ea typeface="Source Sans Pro" panose="020B0503030403020204" pitchFamily="34" charset="0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400" i="1" kern="1200">
          <a:solidFill>
            <a:schemeClr val="accent1"/>
          </a:solidFill>
          <a:latin typeface="+mj-lt"/>
          <a:ea typeface="Source Sans Pro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pos="302">
          <p15:clr>
            <a:srgbClr val="F26B43"/>
          </p15:clr>
        </p15:guide>
        <p15:guide id="8" pos="9775">
          <p15:clr>
            <a:srgbClr val="F26B43"/>
          </p15:clr>
        </p15:guide>
        <p15:guide id="11" orient="horz" pos="867">
          <p15:clr>
            <a:srgbClr val="F26B43"/>
          </p15:clr>
        </p15:guide>
        <p15:guide id="12" pos="581">
          <p15:clr>
            <a:srgbClr val="F26B43"/>
          </p15:clr>
        </p15:guide>
        <p15:guide id="13" pos="7401">
          <p15:clr>
            <a:srgbClr val="F26B43"/>
          </p15:clr>
        </p15:guide>
        <p15:guide id="14" orient="horz" pos="3847">
          <p15:clr>
            <a:srgbClr val="F26B43"/>
          </p15:clr>
        </p15:guide>
        <p15:guide id="15" orient="horz" pos="482">
          <p15:clr>
            <a:srgbClr val="F26B43"/>
          </p15:clr>
        </p15:guide>
        <p15:guide id="16" pos="3736">
          <p15:clr>
            <a:srgbClr val="F26B43"/>
          </p15:clr>
        </p15:guide>
        <p15:guide id="17" pos="3961">
          <p15:clr>
            <a:srgbClr val="F26B43"/>
          </p15:clr>
        </p15:guide>
        <p15:guide id="18" orient="horz" pos="2069">
          <p15:clr>
            <a:srgbClr val="F26B43"/>
          </p15:clr>
        </p15:guide>
        <p15:guide id="19" orient="horz" pos="2201">
          <p15:clr>
            <a:srgbClr val="F26B43"/>
          </p15:clr>
        </p15:guide>
        <p15:guide id="20" pos="2655">
          <p15:clr>
            <a:srgbClr val="F26B43"/>
          </p15:clr>
        </p15:guide>
        <p15:guide id="21" pos="2781">
          <p15:clr>
            <a:srgbClr val="F26B43"/>
          </p15:clr>
        </p15:guide>
        <p15:guide id="22" pos="4871">
          <p15:clr>
            <a:srgbClr val="F26B43"/>
          </p15:clr>
        </p15:guide>
        <p15:guide id="23" pos="5021">
          <p15:clr>
            <a:srgbClr val="F26B43"/>
          </p15:clr>
        </p15:guide>
        <p15:guide id="24" orient="horz" pos="1196" userDrawn="1">
          <p15:clr>
            <a:srgbClr val="F26B43"/>
          </p15:clr>
        </p15:guide>
        <p15:guide id="25" pos="307" userDrawn="1">
          <p15:clr>
            <a:srgbClr val="F26B43"/>
          </p15:clr>
        </p15:guide>
        <p15:guide id="26" pos="7331" userDrawn="1">
          <p15:clr>
            <a:srgbClr val="F26B43"/>
          </p15:clr>
        </p15:guide>
        <p15:guide id="27" orient="horz" pos="4113" userDrawn="1">
          <p15:clr>
            <a:srgbClr val="F26B43"/>
          </p15:clr>
        </p15:guide>
        <p15:guide id="28" orient="horz" pos="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US" dirty="0"/>
              <a:t>RQ1. Holding $N$ and mean degree $\</a:t>
            </a:r>
            <a:r>
              <a:rPr lang="en-US" dirty="0" err="1"/>
              <a:t>langle</a:t>
            </a:r>
            <a:r>
              <a:rPr lang="en-US" dirty="0"/>
              <a:t> k\</a:t>
            </a:r>
            <a:r>
              <a:rPr lang="en-US" dirty="0" err="1"/>
              <a:t>rangle</a:t>
            </a:r>
            <a:r>
              <a:rPr lang="en-US" dirty="0"/>
              <a:t>$ fixed, how does network architecture (e.g., lattice, ER, WS, BA, DC-SBM) affect long-run cooperation and local assortment?</a:t>
            </a:r>
          </a:p>
          <a:p>
            <a:endParaRPr lang="en-US" dirty="0"/>
          </a:p>
          <a:p>
            <a:r>
              <a:rPr lang="en-US" dirty="0"/>
              <a:t>Measurements.</a:t>
            </a:r>
          </a:p>
          <a:p>
            <a:r>
              <a:rPr lang="en-US" dirty="0"/>
              <a:t>- Long-run cooperation level $\bar{C}$.</a:t>
            </a:r>
          </a:p>
          <a:p>
            <a:r>
              <a:rPr lang="en-US" dirty="0"/>
              <a:t>- Neighbor cooperation (assortment). Let $\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)$ be neighbors of $</a:t>
            </a:r>
            <a:r>
              <a:rPr lang="en-US" dirty="0" err="1"/>
              <a:t>i</a:t>
            </a:r>
            <a:r>
              <a:rPr lang="en-US" dirty="0"/>
              <a:t>$ and $</a:t>
            </a:r>
            <a:r>
              <a:rPr lang="en-US" dirty="0" err="1"/>
              <a:t>k_i</a:t>
            </a:r>
            <a:r>
              <a:rPr lang="en-US" dirty="0"/>
              <a:t>=|\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)|$. Define neighbor mean</a:t>
            </a:r>
          </a:p>
          <a:p>
            <a:endParaRPr lang="en-US" dirty="0"/>
          </a:p>
          <a:p>
            <a:r>
              <a:rPr lang="en-US" dirty="0"/>
              <a:t>$$</a:t>
            </a:r>
          </a:p>
          <a:p>
            <a:r>
              <a:rPr lang="en-US" dirty="0"/>
              <a:t>\bar{x}_{\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)}(t)=\frac{1}{</a:t>
            </a:r>
            <a:r>
              <a:rPr lang="en-US" dirty="0" err="1"/>
              <a:t>k_i</a:t>
            </a:r>
            <a:r>
              <a:rPr lang="en-US" dirty="0"/>
              <a:t>} \sum_{j \in 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 </a:t>
            </a:r>
            <a:r>
              <a:rPr lang="en-US" dirty="0" err="1"/>
              <a:t>x_j</a:t>
            </a:r>
            <a:r>
              <a:rPr lang="en-US" dirty="0"/>
              <a:t>(t) .</a:t>
            </a:r>
          </a:p>
          <a:p>
            <a:r>
              <a:rPr lang="en-US" dirty="0"/>
              <a:t>$$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Pearson correlation</a:t>
            </a:r>
          </a:p>
          <a:p>
            <a:endParaRPr lang="en-US" dirty="0"/>
          </a:p>
          <a:p>
            <a:r>
              <a:rPr lang="en-US" dirty="0"/>
              <a:t>$$</a:t>
            </a:r>
          </a:p>
          <a:p>
            <a:r>
              <a:rPr lang="en-US" dirty="0"/>
              <a:t>r(t)=\</a:t>
            </a:r>
            <a:r>
              <a:rPr lang="en-US" dirty="0" err="1"/>
              <a:t>operatorname</a:t>
            </a:r>
            <a:r>
              <a:rPr lang="en-US" dirty="0"/>
              <a:t>{Corr}\left(</a:t>
            </a:r>
            <a:r>
              <a:rPr lang="en-US" dirty="0" err="1"/>
              <a:t>x_i</a:t>
            </a:r>
            <a:r>
              <a:rPr lang="en-US" dirty="0"/>
              <a:t>(t), \bar{x}_{\</a:t>
            </a:r>
            <a:r>
              <a:rPr lang="en-US" dirty="0" err="1"/>
              <a:t>mathcal</a:t>
            </a:r>
            <a:r>
              <a:rPr lang="en-US" dirty="0"/>
              <a:t>{N}(</a:t>
            </a:r>
            <a:r>
              <a:rPr lang="en-US" dirty="0" err="1"/>
              <a:t>i</a:t>
            </a:r>
            <a:r>
              <a:rPr lang="en-US" dirty="0"/>
              <a:t>)}(t)\right)_{</a:t>
            </a:r>
            <a:r>
              <a:rPr lang="en-US" dirty="0" err="1"/>
              <a:t>i</a:t>
            </a:r>
            <a:r>
              <a:rPr lang="en-US" dirty="0"/>
              <a:t>=1}^N .</a:t>
            </a:r>
          </a:p>
          <a:p>
            <a:r>
              <a:rPr lang="en-US" dirty="0"/>
              <a:t>$$</a:t>
            </a:r>
          </a:p>
          <a:p>
            <a:endParaRPr lang="en-US" dirty="0"/>
          </a:p>
          <a:p>
            <a:r>
              <a:rPr lang="en-US" dirty="0"/>
              <a:t>- Report network statistics (as controls/mediators): clustering coefficient, average shortest path length (on the giant component), degree heterogeneity (e.g., $\</a:t>
            </a:r>
            <a:r>
              <a:rPr lang="en-US" dirty="0" err="1"/>
              <a:t>mathrm</a:t>
            </a:r>
            <a:r>
              <a:rPr lang="en-US" dirty="0"/>
              <a:t>{CV}(k)$ ), modularity (if applicable).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RQ1: How do payoff matrices and strategies interact with network structure in terms of the emergence of cooperation?</a:t>
            </a:r>
            <a:endParaRPr lang="en-GB" b="0" dirty="0"/>
          </a:p>
        </p:txBody>
      </p:sp>
    </p:spTree>
    <p:extLst>
      <p:ext uri="{BB962C8B-B14F-4D97-AF65-F5344CB8AC3E}">
        <p14:creationId xmlns:p14="http://schemas.microsoft.com/office/powerpoint/2010/main" val="28170687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7CBC93-0832-0478-6A06-5CF6E0543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dirty="0"/>
              <a:t>The simulations show that cooperation is a dynamical regime that appears when either (</a:t>
            </a:r>
            <a:r>
              <a:rPr lang="en-US" dirty="0" err="1"/>
              <a:t>i</a:t>
            </a:r>
            <a:r>
              <a:rPr lang="en-US" dirty="0"/>
              <a:t>) the game incentives structurally support coexistence (Snowdrift), or (ii) the strategy rule enforces reciprocity over time (Tit-for-Tat). In contrast, under Default Prisoner’s-Dilemma-like incentives with payoff-driven adaptation, the system reliably collapses toward all-defection, often as an absorbing-state process. Network topology matters mainly by shaping the geometry and spatial form of cooperation, not by determining whether cooperation is viable in the first place.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Axis A — Game incentives: PD vs Snowdrift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Default (Prisoner’s Dilemma-like)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Defection is structurally favored (one-shot incentive logic).</a:t>
            </a:r>
          </a:p>
          <a:p>
            <a:r>
              <a:rPr lang="en-US" dirty="0"/>
              <a:t>- Under payoff-driven adaptation, the system tends toward an all-defect absorbing state.</a:t>
            </a:r>
          </a:p>
          <a:p>
            <a:r>
              <a:rPr lang="en-US" dirty="0"/>
              <a:t>- Once the system hits all-D, there is no mechanism to reintroduce cooperation.</a:t>
            </a:r>
          </a:p>
          <a:p>
            <a:r>
              <a:rPr lang="en-US" dirty="0"/>
              <a:t>- Small cooperative “droplets” cannot nucleate and grow.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**Interpretation:** </a:t>
            </a:r>
          </a:p>
          <a:p>
            <a:r>
              <a:rPr lang="en-US" dirty="0"/>
              <a:t>Default PD wants fixation (typically all-D), and payoff-based learning rules amplify that.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Snowdrift (Hawk–Dove / Chicken)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Cooperation and defection are both locally viable, depending on neighborhood composition.</a:t>
            </a:r>
          </a:p>
          <a:p>
            <a:r>
              <a:rPr lang="en-US" dirty="0"/>
              <a:t>- Payoffs are frequency-dependent:</a:t>
            </a:r>
          </a:p>
          <a:p>
            <a:r>
              <a:rPr lang="en-US" dirty="0"/>
              <a:t>- if surrounded by cooperators, defection does well,</a:t>
            </a:r>
          </a:p>
          <a:p>
            <a:r>
              <a:rPr lang="en-US" dirty="0"/>
              <a:t>- if surrounded by defectors, cooperation does well.</a:t>
            </a:r>
          </a:p>
          <a:p>
            <a:r>
              <a:rPr lang="en-US" dirty="0"/>
              <a:t>- This creates a restoring force toward a stable interior mix → persistent coexistence.</a:t>
            </a:r>
          </a:p>
          <a:p>
            <a:r>
              <a:rPr lang="en-US" dirty="0"/>
              <a:t>- The system stabilizes into a mixed equilibrium (high mean cooperation, not fixation).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**Interpretation:** </a:t>
            </a:r>
          </a:p>
          <a:p>
            <a:r>
              <a:rPr lang="en-US" dirty="0"/>
              <a:t>Snowdrift wants coexistence (mixed equilibrium), producing an active phase with persistent turnover.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Axis B — Update rule: imitation/RL vs Tit-for-Tat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Imitation (payoff-based copying) = local selection / replicator-like dynamics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Strategies spread if they earn higher payoff locally.</a:t>
            </a:r>
          </a:p>
          <a:p>
            <a:r>
              <a:rPr lang="en-US" dirty="0"/>
              <a:t>- It strongly amplifies the game’s equilibrium attractor:</a:t>
            </a:r>
          </a:p>
          <a:p>
            <a:r>
              <a:rPr lang="en-US" dirty="0"/>
              <a:t>- Default + imitation → rapid sweep to defection</a:t>
            </a:r>
          </a:p>
          <a:p>
            <a:r>
              <a:rPr lang="en-US" dirty="0"/>
              <a:t>- Snowdrift + imitation → stable mixed population (no fixation)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**Interpretation:** </a:t>
            </a:r>
          </a:p>
          <a:p>
            <a:r>
              <a:rPr lang="en-US" dirty="0"/>
              <a:t>Imitation is a selection-pressure amplifier: it does not create </a:t>
            </a:r>
            <a:r>
              <a:rPr lang="en-US" dirty="0" err="1"/>
              <a:t>prosociality</a:t>
            </a:r>
            <a:r>
              <a:rPr lang="en-US" dirty="0"/>
              <a:t>, it reproduces incentives.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Reinforcement Learning (RL): “learning is not pro-social, it is pro-payoff”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Snowdrift + RL → high cooperation across architectures (expected, since mutual defection isn’t the dominant attractor).</a:t>
            </a:r>
          </a:p>
          <a:p>
            <a:r>
              <a:rPr lang="en-US" dirty="0"/>
              <a:t>- Default + RL → near-zero cooperation (tiny bars ~0.00–0.06), matching true PD logic:</a:t>
            </a:r>
          </a:p>
          <a:p>
            <a:r>
              <a:rPr lang="en-US" dirty="0"/>
              <a:t>- defection strictly dominates in one-shot payoff terms</a:t>
            </a:r>
          </a:p>
          <a:p>
            <a:r>
              <a:rPr lang="en-US" dirty="0"/>
              <a:t>- without reciprocity enforcement, learning pushes toward defection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**Interpretation:** </a:t>
            </a:r>
          </a:p>
          <a:p>
            <a:r>
              <a:rPr lang="en-US" dirty="0"/>
              <a:t>RL reproduces the equilibrium structure of the game; it does not generate cooperation intrinsically.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Tit-for-Tat (TFT) = reciprocity enforcement in repeated play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TFT changes the effective payoff landscape over time:</a:t>
            </a:r>
          </a:p>
          <a:p>
            <a:r>
              <a:rPr lang="en-US" dirty="0"/>
              <a:t>- defection is no longer a one-way exploit</a:t>
            </a:r>
          </a:p>
          <a:p>
            <a:r>
              <a:rPr lang="en-US" dirty="0"/>
              <a:t>- retaliation removes the free lunch</a:t>
            </a:r>
          </a:p>
          <a:p>
            <a:r>
              <a:rPr lang="en-US" dirty="0"/>
              <a:t>- defectors can’t exploit indefinitely</a:t>
            </a:r>
          </a:p>
          <a:p>
            <a:r>
              <a:rPr lang="en-US" dirty="0"/>
              <a:t>- Default + TFT → cooperation survives at substantial levels</a:t>
            </a:r>
          </a:p>
          <a:p>
            <a:r>
              <a:rPr lang="en-US" dirty="0"/>
              <a:t>- bars ~0.39–0.41 across network types (not near zero)</a:t>
            </a:r>
          </a:p>
          <a:p>
            <a:r>
              <a:rPr lang="en-US" dirty="0"/>
              <a:t>- Two TFT agents meeting → stable cooperation stream.</a:t>
            </a:r>
          </a:p>
          <a:p>
            <a:r>
              <a:rPr lang="en-US" dirty="0"/>
              <a:t>- Defectors can exploit once, but are punished immediately.</a:t>
            </a:r>
          </a:p>
          <a:p>
            <a:r>
              <a:rPr lang="en-US" dirty="0"/>
              <a:t>- On structured graphs (especially grids), TFT can form long-lived cooperative domains, sometimes approaching near-total cooperation.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**Interpretation:** </a:t>
            </a:r>
          </a:p>
          <a:p>
            <a:r>
              <a:rPr lang="en-US" dirty="0"/>
              <a:t>TFT is a reciprocal enforcement mechanism that can stabilize cooperation even in PD-like environments.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Axis C — Network topology: controls the spatial form of cooperation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Erdős–Rényi (random)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Looks well-mixed (low clustering, short paths).</a:t>
            </a:r>
          </a:p>
          <a:p>
            <a:r>
              <a:rPr lang="en-US" dirty="0"/>
              <a:t>- Default + imitation → fast global collapse to defection (rapid sweep).</a:t>
            </a:r>
          </a:p>
          <a:p>
            <a:r>
              <a:rPr lang="en-US" dirty="0"/>
              <a:t>- Snowdrift → speckled shimmer of C/D (“salt-and-pepper” coexistence).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**Visual signature:** fast mixing, mean-field-like behavior.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Grid (lattice)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Strong locality → spatial shielding and correlated neighborhoods.</a:t>
            </a:r>
          </a:p>
          <a:p>
            <a:r>
              <a:rPr lang="en-US" dirty="0"/>
              <a:t>- Produces domains/blobs of cooperators and defectors.</a:t>
            </a:r>
          </a:p>
          <a:p>
            <a:r>
              <a:rPr lang="en-US" dirty="0"/>
              <a:t>- Dynamics happen at interfaces:</a:t>
            </a:r>
          </a:p>
          <a:p>
            <a:r>
              <a:rPr lang="en-US" dirty="0"/>
              <a:t>- interiors persist,</a:t>
            </a:r>
          </a:p>
          <a:p>
            <a:r>
              <a:rPr lang="en-US" dirty="0"/>
              <a:t>- boundaries move, drift, reshape.</a:t>
            </a:r>
          </a:p>
          <a:p>
            <a:r>
              <a:rPr lang="en-US" dirty="0"/>
              <a:t>- Under TFT, cooperative clusters become fortress-like and can dominate.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**Visual signature:** continents/blobs + slow boundary motion (coarsening).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Small-world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Hybrid of grid locality + random shortcuts.</a:t>
            </a:r>
          </a:p>
          <a:p>
            <a:r>
              <a:rPr lang="en-US" dirty="0"/>
              <a:t>- Still forms clusters, but shortcuts cause long-range invasions.</a:t>
            </a:r>
          </a:p>
          <a:p>
            <a:r>
              <a:rPr lang="en-US" dirty="0"/>
              <a:t>- More turbulent than grid, less well-mixed than ER.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**Visual signature:** patches + sudden disruptions (“invasions through the air”).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Regimes observed (mapping to your plots + GIFs)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1) Default PD + imitation (especially on ER): absorbing-state collapse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Starts mixed → defection spreads → cooperation collapses → ends near all-D.</a:t>
            </a:r>
          </a:p>
          <a:p>
            <a:r>
              <a:rPr lang="en-US" dirty="0"/>
              <a:t>- Mechanism: defection has consistent local advantage; imitation amplifies it; ER accelerates it via mixing.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**Conclusion:** </a:t>
            </a:r>
          </a:p>
          <a:p>
            <a:r>
              <a:rPr lang="en-US" dirty="0"/>
              <a:t>PD + imitation ⇒ absorbing all-D, a correct “control experiment” where cooperation does not emerge.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2) Snowdrift: active mixed phase (persistent fluctuations)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System does not freeze.</a:t>
            </a:r>
          </a:p>
          <a:p>
            <a:r>
              <a:rPr lang="en-US" dirty="0"/>
              <a:t>- Macroscopic observables fluctuate around a stable mean cooperation level.</a:t>
            </a:r>
          </a:p>
          <a:p>
            <a:r>
              <a:rPr lang="en-US" dirty="0"/>
              <a:t>- Microscopic updates continue indefinitely.</a:t>
            </a:r>
          </a:p>
          <a:p>
            <a:r>
              <a:rPr lang="en-US" dirty="0"/>
              <a:t>- Spatial domains appear clearly on structured networks:</a:t>
            </a:r>
          </a:p>
          <a:p>
            <a:r>
              <a:rPr lang="en-US" dirty="0"/>
              <a:t>- interior stable,</a:t>
            </a:r>
          </a:p>
          <a:p>
            <a:r>
              <a:rPr lang="en-US" dirty="0"/>
              <a:t>- evolution at interfaces.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**Conclusion:** </a:t>
            </a:r>
          </a:p>
          <a:p>
            <a:r>
              <a:rPr lang="en-US" dirty="0"/>
              <a:t>Snowdrift produces a robust coexistence regime across architectures.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#### 3) TFT rescues cooperation in Default PD (reciprocity-stabilized coexistence)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No collapse to all-D even when defection is locally profitable.</a:t>
            </a:r>
          </a:p>
          <a:p>
            <a:r>
              <a:rPr lang="en-US" dirty="0"/>
              <a:t>- Cooperation survives at intermediate levels across architectures (~0.39–0.41).</a:t>
            </a:r>
          </a:p>
          <a:p>
            <a:r>
              <a:rPr lang="en-US" dirty="0"/>
              <a:t>- Grid + TFT strengthens stability: long-lived cooperative structures.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**Conclusion:** </a:t>
            </a:r>
          </a:p>
          <a:p>
            <a:r>
              <a:rPr lang="en-US" dirty="0"/>
              <a:t>Reciprocity enforcement can stabilize cooperation even under adverse incentives.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What “emergence of cooperation” means in your results (precisely)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You observed three qualitatively distinct mechanisms: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1. **Equilibrium coexistence (Snowdrift)** </a:t>
            </a:r>
          </a:p>
          <a:p>
            <a:r>
              <a:rPr lang="en-US" dirty="0"/>
              <a:t>Cooperation persists because the payoff structure supports a stable interior mixed equilibrium.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2. **Reciprocity enforcement (Tit-for-Tat)** </a:t>
            </a:r>
          </a:p>
          <a:p>
            <a:r>
              <a:rPr lang="en-US" dirty="0"/>
              <a:t>Cooperation persists because retaliation prevents sustained exploitation, altering repeated-game incentives.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3. **Selection-driven collapse (Default + imitation/RL)** </a:t>
            </a:r>
          </a:p>
          <a:p>
            <a:r>
              <a:rPr lang="en-US" dirty="0"/>
              <a:t>Cooperation fails because payoff-based adaptation amplifies local advantage and drives the system to the absorbing all-D state.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So: </a:t>
            </a:r>
          </a:p>
          <a:p>
            <a:r>
              <a:rPr lang="en-US" dirty="0"/>
              <a:t>Cooperation emerges either because the game allows it (Snowdrift) or because strategy dynamics enforce it (TFT), while imitation/RL alone reproduces baseline equilibrium logic (defection in PD).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Main results (report-ready)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**Result 1 — Incentives dominate topology** </a:t>
            </a:r>
          </a:p>
          <a:p>
            <a:r>
              <a:rPr lang="en-US" dirty="0"/>
              <a:t>Across all network architectures, the payoff matrix determines whether cooperation is viable: Snowdrift supports stable mixed cooperation, while Default PD collapses under payoff-driven adaptation.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**Result 2 — Reciprocity rules rescue cooperation even in PD** </a:t>
            </a:r>
          </a:p>
          <a:p>
            <a:r>
              <a:rPr lang="en-US" dirty="0"/>
              <a:t>Tit-for-Tat sustains intermediate cooperation even when payoff-driven learners converge to defection, showing that conditional reciprocity can stabilize cooperative clusters in adverse incentive environments.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**Result 3 — Learning is not pro-social, it is pro-payoff** </a:t>
            </a:r>
          </a:p>
          <a:p>
            <a:r>
              <a:rPr lang="en-US" dirty="0"/>
              <a:t>Reinforcement learning yields high cooperation in Snowdrift but near-zero cooperation in Default, demonstrating that learning dynamics reproduce the equilibrium structure of the underlying game.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**Result 4 — Network effects are secondary in this regime** </a:t>
            </a:r>
          </a:p>
          <a:p>
            <a:r>
              <a:rPr lang="en-US" dirty="0"/>
              <a:t>Differences between grid, random, small-world, and scale-free networks are present but modest compared to game and update-rule effects, implying that adaptation dynamics overpower structural clustering advantages here.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One-sentence final claim (strong + correct)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Cooperation emerges not because agents become altruistic, but because either the incentive structure supports stable coexistence (Snowdrift) or reciprocity prevents exploitation (Tit-for-Tat), while network topology mainly determines whether coexistence appears as fast well-mixed shimmer (ER) or slow domain/interface dynamics (grid/small-world).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⸻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### Complex-systems framing (optional but defensible)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 Absorbing vs active phase:</a:t>
            </a:r>
          </a:p>
          <a:p>
            <a:r>
              <a:rPr lang="en-US" dirty="0"/>
              <a:t>- Default PD + imitation behaves like an absorbing-state system (all-D absorbing).</a:t>
            </a:r>
          </a:p>
          <a:p>
            <a:r>
              <a:rPr lang="en-US" dirty="0"/>
              <a:t>- Snowdrift behaves like an active mixed phase (persistent turnover).</a:t>
            </a:r>
          </a:p>
          <a:p>
            <a:r>
              <a:rPr lang="en-US" dirty="0"/>
              <a:t>- Order parameter: cooperation fraction C(t).</a:t>
            </a:r>
          </a:p>
          <a:p>
            <a:r>
              <a:rPr lang="en-US" dirty="0"/>
              <a:t>- Morphology matters: cluster size distribution, interface length, persistence times.</a:t>
            </a:r>
          </a:p>
          <a:p>
            <a:r>
              <a:rPr lang="en-US" dirty="0"/>
              <a:t>- Topology as a control parameter: moving grid → small-world → ER increases mixing, shifting from domain coarsening to mean-field speckle.</a:t>
            </a:r>
          </a:p>
          <a:p>
            <a:r>
              <a:rPr lang="en-US" dirty="0"/>
              <a:t>- Percolation intuition: on grids/small-world, cooperative clusters can become large and persistent; one can ask whether cooperative regions “span” the network (giant component / percolating cluster), even if mean cooperation &lt; 1.</a:t>
            </a:r>
          </a:p>
          <a:p>
            <a:br>
              <a:rPr lang="en-US"/>
            </a:br>
            <a:br>
              <a:rPr lang="en-US"/>
            </a:br>
            <a:endParaRPr lang="en-US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2B095C-0300-2D50-7553-F0465DDA6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60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3FC4FC-A246-571A-2064-8411EE6F1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● Clustering helps: Networks with higher clustering support higher long-run cooperation</a:t>
            </a:r>
            <a:br>
              <a:rPr lang="en-US" dirty="0"/>
            </a:br>
            <a:r>
              <a:rPr lang="en-US" dirty="0"/>
              <a:t>than random networks, holding average degree constant.</a:t>
            </a:r>
            <a:br>
              <a:rPr lang="en-US" dirty="0"/>
            </a:br>
            <a:r>
              <a:rPr lang="en-US" dirty="0"/>
              <a:t>● Cooperation increases when cooperators connected to cooperators, measured by</a:t>
            </a:r>
            <a:br>
              <a:rPr lang="en-US" dirty="0"/>
            </a:br>
            <a:r>
              <a:rPr lang="en-US" dirty="0"/>
              <a:t>positive covariance between an agent’s action and neighbor actions.</a:t>
            </a:r>
            <a:br>
              <a:rPr lang="en-US" dirty="0"/>
            </a:br>
            <a:r>
              <a:rPr lang="en-US" dirty="0"/>
              <a:t>● There exists a parameter region where cooperative clusters transition from many</a:t>
            </a:r>
            <a:br>
              <a:rPr lang="en-US" dirty="0"/>
            </a:br>
            <a:r>
              <a:rPr lang="en-US" dirty="0"/>
              <a:t>small components to a giant connected cooperative component.</a:t>
            </a:r>
          </a:p>
          <a:p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964F53-9A15-4FE3-0CC1-D5BF6B821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63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3D4FCB-242F-03C4-EEE5-8EFC9A913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Short description</a:t>
            </a:r>
            <a:br>
              <a:rPr lang="en-GB" dirty="0"/>
            </a:br>
            <a:r>
              <a:rPr lang="en-GB" dirty="0"/>
              <a:t>Studying the emergence of cooperation through simulation of the iterated prisoner’s dilemma</a:t>
            </a:r>
            <a:br>
              <a:rPr lang="en-GB" dirty="0"/>
            </a:br>
            <a:r>
              <a:rPr lang="en-GB" dirty="0"/>
              <a:t>on networks with varying architectures (e.g., grid, Erdős–Rényi, small-world, DC-SBM). We</a:t>
            </a:r>
            <a:br>
              <a:rPr lang="en-GB" dirty="0"/>
            </a:br>
            <a:r>
              <a:rPr lang="en-GB" dirty="0"/>
              <a:t>will vary initial conditions, agent strategies (e.g., Tit-for-Tat, imitation/mimesis), and payoff</a:t>
            </a:r>
            <a:br>
              <a:rPr lang="en-GB" dirty="0"/>
            </a:br>
            <a:r>
              <a:rPr lang="en-GB" dirty="0"/>
              <a:t>parameters, and measure how these choices affect the formation, size, and persistence of</a:t>
            </a:r>
            <a:br>
              <a:rPr lang="en-GB" dirty="0"/>
            </a:br>
            <a:r>
              <a:rPr lang="en-GB" dirty="0"/>
              <a:t>cooperative clusters. If time allows, we will also look into endogenous rewiring (cooperative</a:t>
            </a:r>
            <a:br>
              <a:rPr lang="en-GB" dirty="0"/>
            </a:br>
            <a:r>
              <a:rPr lang="en-GB" dirty="0"/>
              <a:t>nodes preferentially attaching to each-other) and its implications (such as potential SOC).</a:t>
            </a:r>
            <a:br>
              <a:rPr lang="en-GB" dirty="0"/>
            </a:br>
            <a:r>
              <a:rPr lang="en-GB" dirty="0"/>
              <a:t>Research questions and hypotheses</a:t>
            </a:r>
            <a:br>
              <a:rPr lang="en-GB" dirty="0"/>
            </a:br>
            <a:r>
              <a:rPr lang="en-GB" dirty="0"/>
              <a:t>Can sustained cooperative behaviour emerge endogenously from networked interactions?</a:t>
            </a:r>
            <a:br>
              <a:rPr lang="en-GB" dirty="0"/>
            </a:br>
            <a:r>
              <a:rPr lang="en-GB" dirty="0"/>
              <a:t>● What are the requirements for such emergence?</a:t>
            </a:r>
            <a:br>
              <a:rPr lang="en-GB" dirty="0"/>
            </a:br>
            <a:r>
              <a:rPr lang="en-GB" dirty="0"/>
              <a:t>● Which network architectures are more or less suited for emerging cooperation?</a:t>
            </a:r>
            <a:br>
              <a:rPr lang="en-GB" dirty="0"/>
            </a:br>
            <a:r>
              <a:rPr lang="en-GB" dirty="0"/>
              <a:t>● How does the cluster size of cooperating clusters change?</a:t>
            </a:r>
            <a:br>
              <a:rPr lang="en-GB" dirty="0"/>
            </a:br>
            <a:r>
              <a:rPr lang="en-GB" dirty="0"/>
              <a:t>● Are there critical points or phase transitions?</a:t>
            </a:r>
            <a:br>
              <a:rPr lang="en-GB" dirty="0"/>
            </a:br>
            <a:r>
              <a:rPr lang="en-GB" dirty="0"/>
              <a:t>● Does percolation appear for certain parameter levels? If so, which?</a:t>
            </a:r>
            <a:br>
              <a:rPr lang="en-GB" dirty="0"/>
            </a:br>
            <a:r>
              <a:rPr lang="en-GB" dirty="0"/>
              <a:t>● How do network structure and parameters affect the correlation/covariance between</a:t>
            </a:r>
            <a:br>
              <a:rPr lang="en-GB" dirty="0"/>
            </a:br>
            <a:r>
              <a:rPr lang="en-GB" dirty="0"/>
              <a:t>an agent’s cooperation and the cooperation of its </a:t>
            </a:r>
            <a:r>
              <a:rPr lang="en-GB" dirty="0" err="1"/>
              <a:t>neighbors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77FEE6-D4D1-8A22-4C6C-BA4DBD40C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9934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PRESENTER" val="42456d2f5f5351937ece8a3df1ccd7879d11180"/>
</p:tagLst>
</file>

<file path=ppt/theme/theme1.xml><?xml version="1.0" encoding="utf-8"?>
<a:theme xmlns:a="http://schemas.openxmlformats.org/drawingml/2006/main" name="blank">
  <a:themeElements>
    <a:clrScheme name="UvA">
      <a:dk1>
        <a:srgbClr val="000000"/>
      </a:dk1>
      <a:lt1>
        <a:srgbClr val="FFFFFF"/>
      </a:lt1>
      <a:dk2>
        <a:srgbClr val="1F1D21"/>
      </a:dk2>
      <a:lt2>
        <a:srgbClr val="FFFFFF"/>
      </a:lt2>
      <a:accent1>
        <a:srgbClr val="751B68"/>
      </a:accent1>
      <a:accent2>
        <a:srgbClr val="BEB511"/>
      </a:accent2>
      <a:accent3>
        <a:srgbClr val="90003E"/>
      </a:accent3>
      <a:accent4>
        <a:srgbClr val="257835"/>
      </a:accent4>
      <a:accent5>
        <a:srgbClr val="004E92"/>
      </a:accent5>
      <a:accent6>
        <a:srgbClr val="E98300"/>
      </a:accent6>
      <a:hlink>
        <a:srgbClr val="009CDD"/>
      </a:hlink>
      <a:folHlink>
        <a:srgbClr val="954F72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19-uva-presentatie-16x9---fnwi---nl---faculteit" id="{EB8D55B5-372F-DE44-9635-AD51DB54680F}" vid="{12664C34-D761-2148-A44D-5E691E606D5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EB26C7979E7242A3043123CA461D04" ma:contentTypeVersion="4" ma:contentTypeDescription="Een nieuw document maken." ma:contentTypeScope="" ma:versionID="947128032fa33d4217b1c9b8a9506e64">
  <xsd:schema xmlns:xsd="http://www.w3.org/2001/XMLSchema" xmlns:xs="http://www.w3.org/2001/XMLSchema" xmlns:p="http://schemas.microsoft.com/office/2006/metadata/properties" xmlns:ns2="2014d3d7-ed9a-405e-96dc-0a26f9a75b1e" targetNamespace="http://schemas.microsoft.com/office/2006/metadata/properties" ma:root="true" ma:fieldsID="a9155798b549f333f86d83e0e3ced9ae" ns2:_="">
    <xsd:import namespace="2014d3d7-ed9a-405e-96dc-0a26f9a75b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14d3d7-ed9a-405e-96dc-0a26f9a75b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40B4EE-7306-4015-AD25-B4E5484321A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9DA0326-C6F9-40A3-894F-6061EE46E132}">
  <ds:schemaRefs>
    <ds:schemaRef ds:uri="http://schemas.microsoft.com/office/2006/metadata/properties"/>
    <ds:schemaRef ds:uri="f2760952-b3bb-408f-ace6-eb1e07642b86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2260777-03a2-4acd-8b7f-b7cc27a56620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FAB4FB0-A6B2-4ED4-9E43-2042FF563FD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14d3d7-ed9a-405e-96dc-0a26f9a75b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75</TotalTime>
  <Words>2034</Words>
  <Application>Microsoft Macintosh PowerPoint</Application>
  <PresentationFormat>Widescreen</PresentationFormat>
  <Paragraphs>219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Times New Roman</vt:lpstr>
      <vt:lpstr>blank</vt:lpstr>
      <vt:lpstr>RQ1: How do payoff matrices and strategies interact with network structure in terms of the emergence of cooperation?</vt:lpstr>
      <vt:lpstr>PowerPoint Presentation</vt:lpstr>
      <vt:lpstr>PowerPoint Presentation</vt:lpstr>
      <vt:lpstr>PowerPoint Presentation</vt:lpstr>
    </vt:vector>
  </TitlesOfParts>
  <Manager>Chevelie Vermaning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de Groot</dc:creator>
  <dc:description>Deze invoegtoepassing bevat additionele hulpmiddelen voor UvA presentaties. _x000d_
version: 0.1- 2018 MAART, revision: 1340_x000d_
Last save date: 8-3-2018 12:52:14, last saved by: Martin Drenth</dc:description>
  <cp:lastModifiedBy>Tristan Farran</cp:lastModifiedBy>
  <cp:revision>6</cp:revision>
  <dcterms:created xsi:type="dcterms:W3CDTF">2026-01-26T14:02:12Z</dcterms:created>
  <dcterms:modified xsi:type="dcterms:W3CDTF">2026-01-26T17:13:54Z</dcterms:modified>
  <cp:version>0.1- 2018 MAART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0x010100A5EB26C7979E7242A3043123CA461D04</vt:lpwstr>
  </property>
</Properties>
</file>