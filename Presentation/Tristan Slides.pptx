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5011" r:id="rId4"/>
  </p:sldMasterIdLst>
  <p:notesMasterIdLst>
    <p:notesMasterId r:id="rId8"/>
  </p:notesMasterIdLst>
  <p:handoutMasterIdLst>
    <p:handoutMasterId r:id="rId9"/>
  </p:handoutMasterIdLst>
  <p:sldIdLst>
    <p:sldId id="267" r:id="rId5"/>
    <p:sldId id="268" r:id="rId6"/>
    <p:sldId id="269" r:id="rId7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notes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CECEE"/>
    <a:srgbClr val="1A1A20"/>
    <a:srgbClr val="FF8000"/>
    <a:srgbClr val="E4312C"/>
    <a:srgbClr val="0092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9486" autoAdjust="0"/>
  </p:normalViewPr>
  <p:slideViewPr>
    <p:cSldViewPr showGuides="1">
      <p:cViewPr varScale="1">
        <p:scale>
          <a:sx n="124" d="100"/>
          <a:sy n="124" d="100"/>
        </p:scale>
        <p:origin x="200" y="24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691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howGuides="1">
      <p:cViewPr varScale="1">
        <p:scale>
          <a:sx n="85" d="100"/>
          <a:sy n="85" d="100"/>
        </p:scale>
        <p:origin x="-3786" y="-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B3FC99-108D-4695-8AF1-2D7D2FAECB94}" type="datetimeFigureOut">
              <a:rPr lang="en-US" smtClean="0"/>
              <a:pPr/>
              <a:t>1/26/26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23632F-4A90-4A2D-9731-9ADAF86519F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796787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6A9597-787D-4A4E-A08C-2F4F459F2753}" type="datetimeFigureOut">
              <a:rPr lang="en-US" smtClean="0"/>
              <a:pPr/>
              <a:t>1/26/26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7915E-8BAF-4DB5-8BE1-35DD7C1B4FFD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45844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1pPr>
    <a:lvl2pPr marL="536433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2pPr>
    <a:lvl3pPr marL="1072866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3pPr>
    <a:lvl4pPr marL="1609298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4pPr>
    <a:lvl5pPr marL="2145731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5pPr>
    <a:lvl6pPr marL="2682164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6pPr>
    <a:lvl7pPr marL="3218597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7pPr>
    <a:lvl8pPr marL="3755029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8pPr>
    <a:lvl9pPr marL="4291462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0" y="233951"/>
            <a:ext cx="3935784" cy="788804"/>
          </a:xfrm>
          <a:prstGeom prst="rect">
            <a:avLst/>
          </a:prstGeom>
        </p:spPr>
      </p:pic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0" y="1196975"/>
            <a:ext cx="12192000" cy="5661025"/>
          </a:xfrm>
        </p:spPr>
        <p:txBody>
          <a:bodyPr/>
          <a:lstStyle>
            <a:lvl1pPr>
              <a:defRPr baseline="-25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Spreker + datum">
            <a:extLst>
              <a:ext uri="{FF2B5EF4-FFF2-40B4-BE49-F238E27FC236}">
                <a16:creationId xmlns:a16="http://schemas.microsoft.com/office/drawing/2014/main" id="{22050EA1-CA9C-4396-8218-E69567FC45D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5337" y="5589240"/>
            <a:ext cx="4652591" cy="487833"/>
          </a:xfrm>
          <a:solidFill>
            <a:schemeClr val="bg1">
              <a:lumMod val="85000"/>
            </a:schemeClr>
          </a:solidFill>
        </p:spPr>
        <p:txBody>
          <a:bodyPr tIns="180000">
            <a:normAutofit/>
          </a:bodyPr>
          <a:lstStyle>
            <a:lvl1pPr>
              <a:defRPr sz="1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nl-NL" dirty="0"/>
              <a:t>Spreker + Datum</a:t>
            </a:r>
            <a:br>
              <a:rPr lang="nl-NL" dirty="0"/>
            </a:br>
            <a:endParaRPr lang="nl-NL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CB010751-BA61-49BF-A388-64D88C63E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5336" y="4293096"/>
            <a:ext cx="4652591" cy="1296144"/>
          </a:xfrm>
          <a:solidFill>
            <a:schemeClr val="bg1"/>
          </a:solidFill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13C1930B-82DE-4C71-BB08-517E656128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336" y="3826564"/>
            <a:ext cx="4652592" cy="466532"/>
          </a:xfrm>
          <a:solidFill>
            <a:schemeClr val="bg1"/>
          </a:solidFill>
        </p:spPr>
        <p:txBody>
          <a:bodyPr tIns="144000">
            <a:normAutofit/>
          </a:bodyPr>
          <a:lstStyle>
            <a:lvl1pPr marL="0" indent="0" algn="l">
              <a:buNone/>
              <a:defRPr sz="16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 dirty="0"/>
          </a:p>
        </p:txBody>
      </p:sp>
      <p:sp>
        <p:nvSpPr>
          <p:cNvPr id="8" name="TextBox 7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12792744" y="620688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80234"/>
            <a:ext cx="381000" cy="381000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2792744" y="2156298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je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12397928" y="2215821"/>
            <a:ext cx="288032" cy="276999"/>
            <a:chOff x="12494133" y="2712391"/>
            <a:chExt cx="288032" cy="276999"/>
          </a:xfrm>
        </p:grpSpPr>
        <p:sp>
          <p:nvSpPr>
            <p:cNvPr id="16" name="Rectangle 1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8" name="Rectangle 17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/>
          <p:cNvSpPr txBox="1"/>
          <p:nvPr userDrawn="1"/>
        </p:nvSpPr>
        <p:spPr>
          <a:xfrm>
            <a:off x="12791363" y="3798204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1302" y="5136676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Straight Connector 24"/>
          <p:cNvCxnSpPr/>
          <p:nvPr userDrawn="1"/>
        </p:nvCxnSpPr>
        <p:spPr>
          <a:xfrm>
            <a:off x="12388482" y="5695302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/>
          <p:cNvGrpSpPr/>
          <p:nvPr userDrawn="1"/>
        </p:nvGrpSpPr>
        <p:grpSpPr>
          <a:xfrm>
            <a:off x="12397928" y="2861179"/>
            <a:ext cx="288032" cy="276999"/>
            <a:chOff x="12492689" y="2721406"/>
            <a:chExt cx="288032" cy="276999"/>
          </a:xfrm>
        </p:grpSpPr>
        <p:sp>
          <p:nvSpPr>
            <p:cNvPr id="27" name="Rectangle 26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9" name="Straight Connector 28"/>
          <p:cNvCxnSpPr/>
          <p:nvPr userDrawn="1"/>
        </p:nvCxnSpPr>
        <p:spPr>
          <a:xfrm>
            <a:off x="12396700" y="2732362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 userDrawn="1"/>
        </p:nvCxnSpPr>
        <p:spPr>
          <a:xfrm>
            <a:off x="12370968" y="208429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25"/>
          <p:cNvSpPr txBox="1"/>
          <p:nvPr userDrawn="1"/>
        </p:nvSpPr>
        <p:spPr>
          <a:xfrm>
            <a:off x="12846660" y="2890242"/>
            <a:ext cx="172819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Klik vervolgens bij het onderdeel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‘Schikken’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‘Naar achtergrond’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2" name="Group 31"/>
          <p:cNvGrpSpPr/>
          <p:nvPr userDrawn="1"/>
        </p:nvGrpSpPr>
        <p:grpSpPr>
          <a:xfrm>
            <a:off x="12421465" y="3800073"/>
            <a:ext cx="288032" cy="276999"/>
            <a:chOff x="12492689" y="2721406"/>
            <a:chExt cx="288032" cy="276999"/>
          </a:xfrm>
        </p:grpSpPr>
        <p:sp>
          <p:nvSpPr>
            <p:cNvPr id="33" name="Rectangle 3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35" name="Straight Connector 34"/>
          <p:cNvCxnSpPr/>
          <p:nvPr userDrawn="1"/>
        </p:nvCxnSpPr>
        <p:spPr>
          <a:xfrm>
            <a:off x="12385533" y="3717032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Startpagina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257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8" pos="668">
          <p15:clr>
            <a:srgbClr val="FBAE40"/>
          </p15:clr>
        </p15:guide>
        <p15:guide id="9" pos="4567">
          <p15:clr>
            <a:srgbClr val="FBAE40"/>
          </p15:clr>
        </p15:guide>
        <p15:guide id="11" orient="horz" pos="3816" userDrawn="1">
          <p15:clr>
            <a:srgbClr val="FBAE40"/>
          </p15:clr>
        </p15:guide>
        <p15:guide id="12" orient="horz" pos="3528" userDrawn="1">
          <p15:clr>
            <a:srgbClr val="FBAE40"/>
          </p15:clr>
        </p15:guide>
        <p15:guide id="13" pos="501" userDrawn="1">
          <p15:clr>
            <a:srgbClr val="FBAE40"/>
          </p15:clr>
        </p15:guide>
        <p15:guide id="14" pos="3425" userDrawn="1">
          <p15:clr>
            <a:srgbClr val="FBAE40"/>
          </p15:clr>
        </p15:guide>
        <p15:guide id="15" orient="horz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600" y="1980000"/>
            <a:ext cx="11148649" cy="4617031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  <a:ea typeface="Source Sans Pro" panose="020B0503030403020204" pitchFamily="34" charset="0"/>
              </a:defRPr>
            </a:lvl1pPr>
            <a:lvl2pPr>
              <a:defRPr>
                <a:latin typeface="+mj-lt"/>
                <a:ea typeface="Source Sans Pro" panose="020B0503030403020204" pitchFamily="34" charset="0"/>
              </a:defRPr>
            </a:lvl2pPr>
            <a:lvl3pPr>
              <a:defRPr>
                <a:latin typeface="+mj-lt"/>
                <a:ea typeface="Source Sans Pro" panose="020B0503030403020204" pitchFamily="34" charset="0"/>
              </a:defRPr>
            </a:lvl3pPr>
            <a:lvl4pPr>
              <a:defRPr>
                <a:solidFill>
                  <a:schemeClr val="accent1"/>
                </a:solidFill>
                <a:latin typeface="+mj-lt"/>
                <a:ea typeface="Source Sans Pro" panose="020B0503030403020204" pitchFamily="34" charset="0"/>
              </a:defRPr>
            </a:lvl4pPr>
            <a:lvl5pPr>
              <a:defRPr>
                <a:solidFill>
                  <a:schemeClr val="accent1"/>
                </a:solidFill>
                <a:latin typeface="+mj-lt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1F7EDB-0AEE-417F-9CB5-243BC8B4D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600" y="907200"/>
            <a:ext cx="11159196" cy="936103"/>
          </a:xfrm>
        </p:spPr>
        <p:txBody>
          <a:bodyPr/>
          <a:lstStyle>
            <a:lvl1pPr>
              <a:defRPr b="1"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4" name="TextBox 3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Tekstpagina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TextBox 15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20" name="Rectangle 19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2" name="Group 21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23" name="Rectangle 2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5" name="Group 24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26" name="Rectangle 2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8" name="Group 27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29" name="Rectangle 2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1" name="Group 30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32" name="Rectangle 3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7057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met 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9315" y="1980000"/>
            <a:ext cx="6398773" cy="46307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 useBgFill="1">
        <p:nvSpPr>
          <p:cNvPr id="9" name="Chart Placeholder 8">
            <a:extLst>
              <a:ext uri="{FF2B5EF4-FFF2-40B4-BE49-F238E27FC236}">
                <a16:creationId xmlns:a16="http://schemas.microsoft.com/office/drawing/2014/main" id="{006DB82F-8DD8-4627-ADF9-B9C04CE52499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7104063" y="1980000"/>
            <a:ext cx="4545012" cy="4630738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chart</a:t>
            </a:r>
            <a:endParaRPr lang="nl-NL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3FEB5E-4A4C-4FFF-87D9-D1B9FD8CE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8361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0/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Picture Placeholder 9">
            <a:extLst>
              <a:ext uri="{FF2B5EF4-FFF2-40B4-BE49-F238E27FC236}">
                <a16:creationId xmlns:a16="http://schemas.microsoft.com/office/drawing/2014/main" id="{7D111C98-D5EF-4008-AE50-102F4F1993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56362" y="0"/>
            <a:ext cx="5735638" cy="6858000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600" y="907200"/>
            <a:ext cx="5616576" cy="936103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7496B7-E71A-4615-93AC-7A3B3AB33B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9600" y="1980000"/>
            <a:ext cx="5616576" cy="4249191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50% tekst + 50% afbeelding 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TextBox 15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22" name="Group 21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23" name="Rectangle 2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5" name="Group 24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26" name="Rectangle 2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8" name="Group 27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29" name="Rectangle 2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1" name="Group 30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32" name="Rectangle 3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4" name="Group 33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35" name="Rectangle 34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7" name="TextBox 36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Straight Connector 37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" name="Picture 3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2" name="Group 41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43" name="Rectangle 4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Rectangle 44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Box 46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9" name="Straight Connector 48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51" name="Rectangle 50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53" name="Straight Connector 52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576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5120">
          <p15:clr>
            <a:srgbClr val="FBAE40"/>
          </p15:clr>
        </p15:guide>
        <p15:guide id="4" pos="5423">
          <p15:clr>
            <a:srgbClr val="FBAE40"/>
          </p15:clr>
        </p15:guide>
        <p15:guide id="5" pos="3840" userDrawn="1">
          <p15:clr>
            <a:srgbClr val="FBAE40"/>
          </p15:clr>
        </p15:guide>
        <p15:guide id="6" pos="40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0/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Picture Placeholder 9">
            <a:extLst>
              <a:ext uri="{FF2B5EF4-FFF2-40B4-BE49-F238E27FC236}">
                <a16:creationId xmlns:a16="http://schemas.microsoft.com/office/drawing/2014/main" id="{7D111C98-D5EF-4008-AE50-102F4F1993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16616" y="0"/>
            <a:ext cx="3475383" cy="6858000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600" y="907200"/>
            <a:ext cx="7992887" cy="936103"/>
          </a:xfrm>
        </p:spPr>
        <p:txBody>
          <a:bodyPr anchor="b"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7496B7-E71A-4615-93AC-7A3B3AB33B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9600" y="1980000"/>
            <a:ext cx="7992887" cy="4249191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75% tekst + 25% afbeelding 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TextBox 15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22" name="Group 21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23" name="Rectangle 2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5" name="Group 24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26" name="Rectangle 2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8" name="Group 27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29" name="Rectangle 2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1" name="Group 30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32" name="Rectangle 3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4" name="Group 33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35" name="Rectangle 34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7" name="TextBox 36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Straight Connector 37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" name="Picture 3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2" name="Group 41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43" name="Rectangle 4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Rectangle 44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Box 46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9" name="Straight Connector 48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51" name="Rectangle 50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53" name="Straight Connector 52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201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13">
          <p15:clr>
            <a:srgbClr val="FBAE40"/>
          </p15:clr>
        </p15:guide>
        <p15:guide id="3" pos="54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eldslide met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589891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3" name="Picture Placeholder 2">
            <a:extLst>
              <a:ext uri="{FF2B5EF4-FFF2-40B4-BE49-F238E27FC236}">
                <a16:creationId xmlns:a16="http://schemas.microsoft.com/office/drawing/2014/main" id="{8DD10328-45F6-471F-834D-92E7E7ED225F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0" y="1556792"/>
            <a:ext cx="12192000" cy="5301208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marL="0" indent="0" algn="ctr">
              <a:buNone/>
              <a:defRPr sz="320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baseline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met titel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" name="Straight Connector 2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32" name="TextBox 31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34" name="Rectangle 3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6" name="Rectangle 35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Picture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0" name="Straight Connector 39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42" name="Rectangle 4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44" name="Straight Connector 43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304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eld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1544" y="4797152"/>
            <a:ext cx="8136904" cy="1368152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0" y="0"/>
            <a:ext cx="12192000" cy="6855555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marL="0" indent="0" algn="ctr">
              <a:buNone/>
              <a:defRPr sz="320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Tussenpagina</a:t>
            </a:r>
            <a:r>
              <a:rPr lang="nl-NL" b="1" baseline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afbeelding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" name="Straight Connector 2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32" name="TextBox 31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34" name="Rectangle 3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6" name="Rectangle 35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Picture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0" name="Straight Connector 39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42" name="Rectangle 4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44" name="Straight Connector 43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582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ductieslide 2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0D21EEC-E4A5-40DE-861A-A5D2970A8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8" name="Picture Placeholder 7">
            <a:extLst>
              <a:ext uri="{FF2B5EF4-FFF2-40B4-BE49-F238E27FC236}">
                <a16:creationId xmlns:a16="http://schemas.microsoft.com/office/drawing/2014/main" id="{ED60D2CD-D95E-4DE8-81CF-F42051EAC35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76263" y="2355850"/>
            <a:ext cx="2395537" cy="2414588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9" name="Picture Placeholder 7">
            <a:extLst>
              <a:ext uri="{FF2B5EF4-FFF2-40B4-BE49-F238E27FC236}">
                <a16:creationId xmlns:a16="http://schemas.microsoft.com/office/drawing/2014/main" id="{4769E892-37BD-4E39-8C67-8E1525991DF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21413" y="2364240"/>
            <a:ext cx="2416175" cy="2406198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F43F37-6578-4009-AFA1-F16E909D77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190461" y="2355850"/>
            <a:ext cx="2905539" cy="2414588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1825921-4BAC-4A30-9D68-5E3CC234D6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42972" y="2355850"/>
            <a:ext cx="2905539" cy="241458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Introductiepagina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6" name="Straight Connector 35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" name="TextBox 38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2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" name="TextBox 42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5" name="TextBox 44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6" name="TextBox 45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7" name="TextBox 46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48" name="TextBox 47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49" name="Group 48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50" name="Rectangle 49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2" name="Group 51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53" name="Rectangle 5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5" name="Group 54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56" name="Rectangle 5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8" name="Group 57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59" name="Rectangle 5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1" name="Group 60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62" name="Rectangle 6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2" name="TextBox 81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3" name="Straight Connector 82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5" name="Picture 8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86" name="TextBox 85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7" name="Group 86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88" name="Rectangle 87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0" name="Rectangle 89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TextBox 91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3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4" name="Straight Connector 93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Group 94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96" name="Rectangle 9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98" name="Straight Connector 97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0520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7" pos="5225">
          <p15:clr>
            <a:srgbClr val="FBAE40"/>
          </p15:clr>
        </p15:guide>
        <p15:guide id="8" pos="7255">
          <p15:clr>
            <a:srgbClr val="FBAE40"/>
          </p15:clr>
        </p15:guide>
        <p15:guide id="9" pos="2496">
          <p15:clr>
            <a:srgbClr val="FBAE40"/>
          </p15:clr>
        </p15:guide>
        <p15:guide id="10" pos="484">
          <p15:clr>
            <a:srgbClr val="FBAE40"/>
          </p15:clr>
        </p15:guide>
        <p15:guide id="13" pos="3919" userDrawn="1">
          <p15:clr>
            <a:srgbClr val="FBAE40"/>
          </p15:clr>
        </p15:guide>
        <p15:guide id="14" pos="5441" userDrawn="1">
          <p15:clr>
            <a:srgbClr val="FBAE40"/>
          </p15:clr>
        </p15:guide>
        <p15:guide id="15" pos="1872" userDrawn="1">
          <p15:clr>
            <a:srgbClr val="FBAE40"/>
          </p15:clr>
        </p15:guide>
        <p15:guide id="16" pos="363" userDrawn="1">
          <p15:clr>
            <a:srgbClr val="FBAE40"/>
          </p15:clr>
        </p15:guide>
        <p15:guide id="17" orient="horz" pos="1484" userDrawn="1">
          <p15:clr>
            <a:srgbClr val="FBAE40"/>
          </p15:clr>
        </p15:guide>
        <p15:guide id="18" orient="horz" pos="30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ema/Introductieslide 4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0D21EEC-E4A5-40DE-861A-A5D2970A8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936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8" name="Picture Placeholder 7">
            <a:extLst>
              <a:ext uri="{FF2B5EF4-FFF2-40B4-BE49-F238E27FC236}">
                <a16:creationId xmlns:a16="http://schemas.microsoft.com/office/drawing/2014/main" id="{ED60D2CD-D95E-4DE8-81CF-F42051EAC35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460690" y="1933507"/>
            <a:ext cx="2415600" cy="2431597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9" name="Picture Placeholder 7">
            <a:extLst>
              <a:ext uri="{FF2B5EF4-FFF2-40B4-BE49-F238E27FC236}">
                <a16:creationId xmlns:a16="http://schemas.microsoft.com/office/drawing/2014/main" id="{4769E892-37BD-4E39-8C67-8E1525991DF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4200" y="1933507"/>
            <a:ext cx="2416175" cy="2431597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F43F37-6578-4009-AFA1-F16E909D77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200" y="4433068"/>
            <a:ext cx="2416175" cy="23083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1825921-4BAC-4A30-9D68-5E3CC234D6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91625" y="4433068"/>
            <a:ext cx="2412355" cy="23083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 useBgFill="1">
        <p:nvSpPr>
          <p:cNvPr id="10" name="Picture Placeholder 7">
            <a:extLst>
              <a:ext uri="{FF2B5EF4-FFF2-40B4-BE49-F238E27FC236}">
                <a16:creationId xmlns:a16="http://schemas.microsoft.com/office/drawing/2014/main" id="{35C5B6DC-BE5E-43A2-941D-79AA88A7156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15178" y="1933507"/>
            <a:ext cx="2415600" cy="2431597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13" name="Picture Placeholder 7">
            <a:extLst>
              <a:ext uri="{FF2B5EF4-FFF2-40B4-BE49-F238E27FC236}">
                <a16:creationId xmlns:a16="http://schemas.microsoft.com/office/drawing/2014/main" id="{282B1D46-10CA-47BE-8746-C599AF7EAF2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91625" y="1933507"/>
            <a:ext cx="2416175" cy="2431596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4D248D55-288A-4EC0-AC4C-C8DA816AB3F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50506" y="4433068"/>
            <a:ext cx="2416175" cy="23083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7A808D4E-A7D5-418F-9DB7-994EFE72ED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25319" y="4433068"/>
            <a:ext cx="2416175" cy="23083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6" name="TextBox 15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Straight Connector 16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6" name="TextBox 25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7" name="TextBox 26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31" name="Rectangle 30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3" name="Group 32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34" name="Rectangle 3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6" name="Group 35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37" name="Rectangle 36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9" name="Group 38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40" name="Rectangle 39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43" name="Rectangle 4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63" name="TextBox 62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4" name="Straight Connector 63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Picture 6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Group 67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69" name="Rectangle 6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71" name="Rectangle 70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TextBox 72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4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5" name="Straight Connector 74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77" name="Rectangle 76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79" name="Straight Connector 78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Introductiepagina 2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8600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363">
          <p15:clr>
            <a:srgbClr val="FBAE40"/>
          </p15:clr>
        </p15:guide>
        <p15:guide id="7" pos="5301">
          <p15:clr>
            <a:srgbClr val="FBAE40"/>
          </p15:clr>
        </p15:guide>
        <p15:guide id="8" pos="7720">
          <p15:clr>
            <a:srgbClr val="FBAE40"/>
          </p15:clr>
        </p15:guide>
        <p15:guide id="9" pos="2883">
          <p15:clr>
            <a:srgbClr val="FBAE40"/>
          </p15:clr>
        </p15:guide>
        <p15:guide id="10" pos="484">
          <p15:clr>
            <a:srgbClr val="FBAE40"/>
          </p15:clr>
        </p15:guide>
        <p15:guide id="13" pos="3976" userDrawn="1">
          <p15:clr>
            <a:srgbClr val="FBAE40"/>
          </p15:clr>
        </p15:guide>
        <p15:guide id="14" pos="5790" userDrawn="1">
          <p15:clr>
            <a:srgbClr val="FBAE40"/>
          </p15:clr>
        </p15:guide>
        <p15:guide id="15" pos="2162" userDrawn="1">
          <p15:clr>
            <a:srgbClr val="FBAE40"/>
          </p15:clr>
        </p15:guide>
        <p15:guide id="16" orient="horz" pos="981" userDrawn="1">
          <p15:clr>
            <a:srgbClr val="FBAE40"/>
          </p15:clr>
        </p15:guide>
        <p15:guide id="17" orient="horz" pos="2523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0D21EEC-E4A5-40DE-861A-A5D2970A8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8059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8" name="Picture Placeholder 7">
            <a:extLst>
              <a:ext uri="{FF2B5EF4-FFF2-40B4-BE49-F238E27FC236}">
                <a16:creationId xmlns:a16="http://schemas.microsoft.com/office/drawing/2014/main" id="{ED60D2CD-D95E-4DE8-81CF-F42051EAC35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4200" y="1937792"/>
            <a:ext cx="3495576" cy="4515544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16" name="Picture Placeholder 7">
            <a:extLst>
              <a:ext uri="{FF2B5EF4-FFF2-40B4-BE49-F238E27FC236}">
                <a16:creationId xmlns:a16="http://schemas.microsoft.com/office/drawing/2014/main" id="{F3EBE767-6505-4CEF-AB07-52CB38903C1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112224" y="1937792"/>
            <a:ext cx="3495576" cy="4515544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17" name="Picture Placeholder 7">
            <a:extLst>
              <a:ext uri="{FF2B5EF4-FFF2-40B4-BE49-F238E27FC236}">
                <a16:creationId xmlns:a16="http://schemas.microsoft.com/office/drawing/2014/main" id="{D0EE3735-77D9-4126-9A30-0D4B6017D65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48212" y="1937792"/>
            <a:ext cx="3495576" cy="4515544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14" name="Rectangle 1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8" name="Rectangle 17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" name="Straight Connector 21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2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24" name="Rectangle 2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6" name="Straight Connector 25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</a:t>
            </a:r>
            <a:r>
              <a:rPr lang="nl-NL" b="1" baseline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3x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444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6">
          <p15:clr>
            <a:srgbClr val="FBAE40"/>
          </p15:clr>
        </p15:guide>
        <p15:guide id="4" pos="363">
          <p15:clr>
            <a:srgbClr val="FBAE40"/>
          </p15:clr>
        </p15:guide>
        <p15:guide id="7" pos="5301">
          <p15:clr>
            <a:srgbClr val="FBAE40"/>
          </p15:clr>
        </p15:guide>
        <p15:guide id="8" pos="484">
          <p15:clr>
            <a:srgbClr val="FBAE40"/>
          </p15:clr>
        </p15:guide>
        <p15:guide id="9" orient="horz" pos="981">
          <p15:clr>
            <a:srgbClr val="FBAE40"/>
          </p15:clr>
        </p15:guide>
        <p15:guide id="10" orient="horz" pos="2523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0D21EEC-E4A5-40DE-861A-A5D2970A8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936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8" name="Picture Placeholder 7">
            <a:extLst>
              <a:ext uri="{FF2B5EF4-FFF2-40B4-BE49-F238E27FC236}">
                <a16:creationId xmlns:a16="http://schemas.microsoft.com/office/drawing/2014/main" id="{ED60D2CD-D95E-4DE8-81CF-F42051EAC35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79376" y="1988840"/>
            <a:ext cx="5400000" cy="4608512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7" name="Picture Placeholder 7">
            <a:extLst>
              <a:ext uri="{FF2B5EF4-FFF2-40B4-BE49-F238E27FC236}">
                <a16:creationId xmlns:a16="http://schemas.microsoft.com/office/drawing/2014/main" id="{4685375D-185B-47C2-B347-B84257FEFAA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0016" y="1988840"/>
            <a:ext cx="5400000" cy="4598609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14" name="Rectangle 1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Rectangle 15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Picture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0" name="Straight Connector 19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22" name="Rectangle 2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4" name="Straight Connector 23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2x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1898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363">
          <p15:clr>
            <a:srgbClr val="FBAE40"/>
          </p15:clr>
        </p15:guide>
        <p15:guide id="7" pos="484">
          <p15:clr>
            <a:srgbClr val="FBAE40"/>
          </p15:clr>
        </p15:guide>
        <p15:guide id="8" orient="horz" pos="981">
          <p15:clr>
            <a:srgbClr val="FBAE40"/>
          </p15:clr>
        </p15:guide>
        <p15:guide id="9" orient="horz" pos="2523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video (iMac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Mac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294" y="1668379"/>
            <a:ext cx="6430375" cy="4774256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489315" y="1915200"/>
            <a:ext cx="5606686" cy="44688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8" name="Rectangle 7"/>
          <p:cNvSpPr/>
          <p:nvPr/>
        </p:nvSpPr>
        <p:spPr>
          <a:xfrm>
            <a:off x="6302400" y="2006400"/>
            <a:ext cx="5505600" cy="2846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400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2"/>
          </p:nvPr>
        </p:nvSpPr>
        <p:spPr>
          <a:xfrm>
            <a:off x="6302400" y="2006400"/>
            <a:ext cx="5505600" cy="28464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pic>
        <p:nvPicPr>
          <p:cNvPr id="9" name="Picture 8" descr="iMac.png">
            <a:extLst>
              <a:ext uri="{FF2B5EF4-FFF2-40B4-BE49-F238E27FC236}">
                <a16:creationId xmlns:a16="http://schemas.microsoft.com/office/drawing/2014/main" id="{C8FBE6D9-3C61-4A64-8829-1D01D752B6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294" y="1668379"/>
            <a:ext cx="6430375" cy="47742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4D704BE-186B-4873-9F53-FB8893678272}"/>
              </a:ext>
            </a:extLst>
          </p:cNvPr>
          <p:cNvSpPr/>
          <p:nvPr userDrawn="1"/>
        </p:nvSpPr>
        <p:spPr>
          <a:xfrm>
            <a:off x="6302400" y="2006400"/>
            <a:ext cx="5505600" cy="2846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400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15" name="TextBox 14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17" name="Rectangle 16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9" name="Rectangle 18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3" name="Straight Connector 22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25" name="Rectangle 24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7" name="Straight Connector 26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1282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video (iPa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ipad.png">
            <a:extLst>
              <a:ext uri="{FF2B5EF4-FFF2-40B4-BE49-F238E27FC236}">
                <a16:creationId xmlns:a16="http://schemas.microsoft.com/office/drawing/2014/main" id="{72A91A83-7BEC-4DFC-9141-86C25E606E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128" y="1462436"/>
            <a:ext cx="4132447" cy="5206924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489315" y="1915200"/>
            <a:ext cx="5606686" cy="44688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8" name="Rectangle 7"/>
          <p:cNvSpPr/>
          <p:nvPr/>
        </p:nvSpPr>
        <p:spPr>
          <a:xfrm>
            <a:off x="7681354" y="2132856"/>
            <a:ext cx="3249600" cy="384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400" dirty="0"/>
          </a:p>
        </p:txBody>
      </p:sp>
      <p:pic>
        <p:nvPicPr>
          <p:cNvPr id="7" name="Picture 6" descr="ipad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128" y="1462436"/>
            <a:ext cx="4132447" cy="5206924"/>
          </a:xfrm>
          <a:prstGeom prst="rect">
            <a:avLst/>
          </a:prstGeom>
        </p:spPr>
      </p:pic>
      <p:sp>
        <p:nvSpPr>
          <p:cNvPr id="9" name="Content Placeholder 8"/>
          <p:cNvSpPr>
            <a:spLocks noGrp="1"/>
          </p:cNvSpPr>
          <p:nvPr>
            <p:ph sz="quarter" idx="12"/>
          </p:nvPr>
        </p:nvSpPr>
        <p:spPr>
          <a:xfrm>
            <a:off x="7680176" y="2132856"/>
            <a:ext cx="3249600" cy="3840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73CE4D-2F70-45E4-967A-9D739D4C3FC1}"/>
              </a:ext>
            </a:extLst>
          </p:cNvPr>
          <p:cNvSpPr/>
          <p:nvPr userDrawn="1"/>
        </p:nvSpPr>
        <p:spPr>
          <a:xfrm>
            <a:off x="7690730" y="2130610"/>
            <a:ext cx="3249600" cy="384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400" baseline="0" dirty="0"/>
          </a:p>
        </p:txBody>
      </p:sp>
    </p:spTree>
    <p:extLst>
      <p:ext uri="{BB962C8B-B14F-4D97-AF65-F5344CB8AC3E}">
        <p14:creationId xmlns:p14="http://schemas.microsoft.com/office/powerpoint/2010/main" val="20631103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Grafiek br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92C6-2ACF-4B38-86C3-6C298EE6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4" y="907200"/>
            <a:ext cx="11223310" cy="93610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4" name="Chart Placeholder 3">
            <a:extLst>
              <a:ext uri="{FF2B5EF4-FFF2-40B4-BE49-F238E27FC236}">
                <a16:creationId xmlns:a16="http://schemas.microsoft.com/office/drawing/2014/main" id="{5958EF81-0CFC-48FC-BE1D-A0A58BBF5B9A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479425" y="1898650"/>
            <a:ext cx="11269663" cy="4208463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chart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9917934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mart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AF520-9086-466E-9B79-4326410DA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4" y="907200"/>
            <a:ext cx="11223309" cy="93610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4" name="SmartArt Placeholder 3">
            <a:extLst>
              <a:ext uri="{FF2B5EF4-FFF2-40B4-BE49-F238E27FC236}">
                <a16:creationId xmlns:a16="http://schemas.microsoft.com/office/drawing/2014/main" id="{B1BBC81D-6CE2-4F98-83D0-5B508AF7F554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488951" y="1980000"/>
            <a:ext cx="11260138" cy="4208463"/>
          </a:xfr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none"/>
        </p:style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icon to add SmartArt graphic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30212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19" y="191126"/>
            <a:ext cx="2705229" cy="54217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9361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14" y="1980000"/>
            <a:ext cx="11148649" cy="46170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880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012" r:id="rId1"/>
    <p:sldLayoutId id="2147485013" r:id="rId2"/>
    <p:sldLayoutId id="2147485014" r:id="rId3"/>
    <p:sldLayoutId id="2147485017" r:id="rId4"/>
    <p:sldLayoutId id="2147485018" r:id="rId5"/>
    <p:sldLayoutId id="2147485019" r:id="rId6"/>
    <p:sldLayoutId id="2147485020" r:id="rId7"/>
    <p:sldLayoutId id="2147485021" r:id="rId8"/>
    <p:sldLayoutId id="2147485022" r:id="rId9"/>
    <p:sldLayoutId id="2147485023" r:id="rId10"/>
    <p:sldLayoutId id="2147485024" r:id="rId11"/>
    <p:sldLayoutId id="2147485025" r:id="rId12"/>
    <p:sldLayoutId id="2147485027" r:id="rId13"/>
    <p:sldLayoutId id="2147485029" r:id="rId14"/>
    <p:sldLayoutId id="2147485030" r:id="rId15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accent1"/>
          </a:solidFill>
          <a:latin typeface="+mj-lt"/>
          <a:ea typeface="Source Sans Pro" panose="020B05030304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j-lt"/>
          <a:ea typeface="Source Sans Pro" panose="020B0503030403020204" pitchFamily="34" charset="0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Source Sans Pro" panose="020B0503030403020204" pitchFamily="34" charset="0"/>
          <a:cs typeface="+mn-cs"/>
        </a:defRPr>
      </a:lvl2pPr>
      <a:lvl3pPr marL="625475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Source Sans Pro" panose="020B0503030403020204" pitchFamily="34" charset="0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accent1"/>
          </a:solidFill>
          <a:latin typeface="+mj-lt"/>
          <a:ea typeface="Source Sans Pro" panose="020B0503030403020204" pitchFamily="34" charset="0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400" i="1" kern="1200">
          <a:solidFill>
            <a:schemeClr val="accent1"/>
          </a:solidFill>
          <a:latin typeface="+mj-lt"/>
          <a:ea typeface="Source Sans Pro" panose="020B05030304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pos="302">
          <p15:clr>
            <a:srgbClr val="F26B43"/>
          </p15:clr>
        </p15:guide>
        <p15:guide id="8" pos="9775">
          <p15:clr>
            <a:srgbClr val="F26B43"/>
          </p15:clr>
        </p15:guide>
        <p15:guide id="11" orient="horz" pos="867">
          <p15:clr>
            <a:srgbClr val="F26B43"/>
          </p15:clr>
        </p15:guide>
        <p15:guide id="12" pos="581">
          <p15:clr>
            <a:srgbClr val="F26B43"/>
          </p15:clr>
        </p15:guide>
        <p15:guide id="13" pos="7401">
          <p15:clr>
            <a:srgbClr val="F26B43"/>
          </p15:clr>
        </p15:guide>
        <p15:guide id="14" orient="horz" pos="3847">
          <p15:clr>
            <a:srgbClr val="F26B43"/>
          </p15:clr>
        </p15:guide>
        <p15:guide id="15" orient="horz" pos="482">
          <p15:clr>
            <a:srgbClr val="F26B43"/>
          </p15:clr>
        </p15:guide>
        <p15:guide id="16" pos="3736">
          <p15:clr>
            <a:srgbClr val="F26B43"/>
          </p15:clr>
        </p15:guide>
        <p15:guide id="17" pos="3961">
          <p15:clr>
            <a:srgbClr val="F26B43"/>
          </p15:clr>
        </p15:guide>
        <p15:guide id="18" orient="horz" pos="2069">
          <p15:clr>
            <a:srgbClr val="F26B43"/>
          </p15:clr>
        </p15:guide>
        <p15:guide id="19" orient="horz" pos="2201">
          <p15:clr>
            <a:srgbClr val="F26B43"/>
          </p15:clr>
        </p15:guide>
        <p15:guide id="20" pos="2655">
          <p15:clr>
            <a:srgbClr val="F26B43"/>
          </p15:clr>
        </p15:guide>
        <p15:guide id="21" pos="2781">
          <p15:clr>
            <a:srgbClr val="F26B43"/>
          </p15:clr>
        </p15:guide>
        <p15:guide id="22" pos="4871">
          <p15:clr>
            <a:srgbClr val="F26B43"/>
          </p15:clr>
        </p15:guide>
        <p15:guide id="23" pos="5021">
          <p15:clr>
            <a:srgbClr val="F26B43"/>
          </p15:clr>
        </p15:guide>
        <p15:guide id="24" orient="horz" pos="1196" userDrawn="1">
          <p15:clr>
            <a:srgbClr val="F26B43"/>
          </p15:clr>
        </p15:guide>
        <p15:guide id="25" pos="307" userDrawn="1">
          <p15:clr>
            <a:srgbClr val="F26B43"/>
          </p15:clr>
        </p15:guide>
        <p15:guide id="26" pos="7331" userDrawn="1">
          <p15:clr>
            <a:srgbClr val="F26B43"/>
          </p15:clr>
        </p15:guide>
        <p15:guide id="27" orient="horz" pos="4113" userDrawn="1">
          <p15:clr>
            <a:srgbClr val="F26B43"/>
          </p15:clr>
        </p15:guide>
        <p15:guide id="28" orient="horz" pos="7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US" dirty="0"/>
              <a:t>RQ1. Holding $N$ and mean degree $\</a:t>
            </a:r>
            <a:r>
              <a:rPr lang="en-US" dirty="0" err="1"/>
              <a:t>langle</a:t>
            </a:r>
            <a:r>
              <a:rPr lang="en-US" dirty="0"/>
              <a:t> k\</a:t>
            </a:r>
            <a:r>
              <a:rPr lang="en-US" dirty="0" err="1"/>
              <a:t>rangle</a:t>
            </a:r>
            <a:r>
              <a:rPr lang="en-US" dirty="0"/>
              <a:t>$ fixed, how does network architecture (e.g., lattice, ER, WS, BA, DC-SBM) affect long-run cooperation and local assortment?</a:t>
            </a:r>
          </a:p>
          <a:p>
            <a:endParaRPr lang="en-US" dirty="0"/>
          </a:p>
          <a:p>
            <a:r>
              <a:rPr lang="en-US" dirty="0"/>
              <a:t>Measurements.</a:t>
            </a:r>
          </a:p>
          <a:p>
            <a:r>
              <a:rPr lang="en-US" dirty="0"/>
              <a:t>- Long-run cooperation level $\bar{C}$.</a:t>
            </a:r>
          </a:p>
          <a:p>
            <a:r>
              <a:rPr lang="en-US" dirty="0"/>
              <a:t>- Neighbor cooperation (assortment). Let $\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)$ be neighbors of $</a:t>
            </a:r>
            <a:r>
              <a:rPr lang="en-US" dirty="0" err="1"/>
              <a:t>i</a:t>
            </a:r>
            <a:r>
              <a:rPr lang="en-US" dirty="0"/>
              <a:t>$ and $</a:t>
            </a:r>
            <a:r>
              <a:rPr lang="en-US" dirty="0" err="1"/>
              <a:t>k_i</a:t>
            </a:r>
            <a:r>
              <a:rPr lang="en-US" dirty="0"/>
              <a:t>=|\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)|$. Define neighbor mean</a:t>
            </a:r>
          </a:p>
          <a:p>
            <a:endParaRPr lang="en-US" dirty="0"/>
          </a:p>
          <a:p>
            <a:r>
              <a:rPr lang="en-US" dirty="0"/>
              <a:t>$$</a:t>
            </a:r>
          </a:p>
          <a:p>
            <a:r>
              <a:rPr lang="en-US" dirty="0"/>
              <a:t>\bar{x}_{\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)}(t)=\frac{1}{</a:t>
            </a:r>
            <a:r>
              <a:rPr lang="en-US" dirty="0" err="1"/>
              <a:t>k_i</a:t>
            </a:r>
            <a:r>
              <a:rPr lang="en-US" dirty="0"/>
              <a:t>} \sum_{j \in 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)} </a:t>
            </a:r>
            <a:r>
              <a:rPr lang="en-US" dirty="0" err="1"/>
              <a:t>x_j</a:t>
            </a:r>
            <a:r>
              <a:rPr lang="en-US" dirty="0"/>
              <a:t>(t) .</a:t>
            </a:r>
          </a:p>
          <a:p>
            <a:r>
              <a:rPr lang="en-US" dirty="0"/>
              <a:t>$$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Pearson correlation</a:t>
            </a:r>
          </a:p>
          <a:p>
            <a:endParaRPr lang="en-US" dirty="0"/>
          </a:p>
          <a:p>
            <a:r>
              <a:rPr lang="en-US" dirty="0"/>
              <a:t>$$</a:t>
            </a:r>
          </a:p>
          <a:p>
            <a:r>
              <a:rPr lang="en-US" dirty="0"/>
              <a:t>r(t)=\</a:t>
            </a:r>
            <a:r>
              <a:rPr lang="en-US" dirty="0" err="1"/>
              <a:t>operatorname</a:t>
            </a:r>
            <a:r>
              <a:rPr lang="en-US" dirty="0"/>
              <a:t>{Corr}\left(</a:t>
            </a:r>
            <a:r>
              <a:rPr lang="en-US" dirty="0" err="1"/>
              <a:t>x_i</a:t>
            </a:r>
            <a:r>
              <a:rPr lang="en-US" dirty="0"/>
              <a:t>(t), \bar{x}_{\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)}(t)\right)_{</a:t>
            </a:r>
            <a:r>
              <a:rPr lang="en-US" dirty="0" err="1"/>
              <a:t>i</a:t>
            </a:r>
            <a:r>
              <a:rPr lang="en-US" dirty="0"/>
              <a:t>=1}^N .</a:t>
            </a:r>
          </a:p>
          <a:p>
            <a:r>
              <a:rPr lang="en-US" dirty="0"/>
              <a:t>$$</a:t>
            </a:r>
          </a:p>
          <a:p>
            <a:endParaRPr lang="en-US" dirty="0"/>
          </a:p>
          <a:p>
            <a:r>
              <a:rPr lang="en-US" dirty="0"/>
              <a:t>- Report network statistics (as controls/mediators): clustering coefficient, average shortest path length (on the giant component), degree heterogeneity (e.g., $\</a:t>
            </a:r>
            <a:r>
              <a:rPr lang="en-US" dirty="0" err="1"/>
              <a:t>mathrm</a:t>
            </a:r>
            <a:r>
              <a:rPr lang="en-US" dirty="0"/>
              <a:t>{CV}(k)$ ), modularity (if applicable).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RQ1: How do payoff matrices and strategies interact with network structure in terms of the emergence of cooperation?</a:t>
            </a:r>
            <a:endParaRPr lang="en-GB" b="0" dirty="0"/>
          </a:p>
        </p:txBody>
      </p:sp>
    </p:spTree>
    <p:extLst>
      <p:ext uri="{BB962C8B-B14F-4D97-AF65-F5344CB8AC3E}">
        <p14:creationId xmlns:p14="http://schemas.microsoft.com/office/powerpoint/2010/main" val="28170687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3FC4FC-A246-571A-2064-8411EE6F1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● Clustering helps: Networks with higher clustering support higher long-run cooperation</a:t>
            </a:r>
            <a:br>
              <a:rPr lang="en-US" dirty="0"/>
            </a:br>
            <a:r>
              <a:rPr lang="en-US" dirty="0"/>
              <a:t>than random networks, holding average degree constant.</a:t>
            </a:r>
            <a:br>
              <a:rPr lang="en-US" dirty="0"/>
            </a:br>
            <a:r>
              <a:rPr lang="en-US" dirty="0"/>
              <a:t>● Cooperation increases when cooperators connected to cooperators, measured by</a:t>
            </a:r>
            <a:br>
              <a:rPr lang="en-US" dirty="0"/>
            </a:br>
            <a:r>
              <a:rPr lang="en-US" dirty="0"/>
              <a:t>positive covariance between an agent’s action and neighbor actions.</a:t>
            </a:r>
            <a:br>
              <a:rPr lang="en-US" dirty="0"/>
            </a:br>
            <a:r>
              <a:rPr lang="en-US" dirty="0"/>
              <a:t>● There exists a parameter region where cooperative clusters transition from many</a:t>
            </a:r>
            <a:br>
              <a:rPr lang="en-US" dirty="0"/>
            </a:br>
            <a:r>
              <a:rPr lang="en-US" dirty="0"/>
              <a:t>small components to a giant connected cooperative component.</a:t>
            </a:r>
          </a:p>
          <a:p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964F53-9A15-4FE3-0CC1-D5BF6B821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263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3D4FCB-242F-03C4-EEE5-8EFC9A913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Short description</a:t>
            </a:r>
            <a:br>
              <a:rPr lang="en-GB" dirty="0"/>
            </a:br>
            <a:r>
              <a:rPr lang="en-GB" dirty="0"/>
              <a:t>Studying the emergence of cooperation through simulation of the iterated prisoner’s dilemma</a:t>
            </a:r>
            <a:br>
              <a:rPr lang="en-GB" dirty="0"/>
            </a:br>
            <a:r>
              <a:rPr lang="en-GB" dirty="0"/>
              <a:t>on networks with varying architectures (e.g., grid, Erdős–Rényi, small-world, DC-SBM). We</a:t>
            </a:r>
            <a:br>
              <a:rPr lang="en-GB" dirty="0"/>
            </a:br>
            <a:r>
              <a:rPr lang="en-GB" dirty="0"/>
              <a:t>will vary initial conditions, agent strategies (e.g., Tit-for-Tat, imitation/mimesis), and payoff</a:t>
            </a:r>
            <a:br>
              <a:rPr lang="en-GB" dirty="0"/>
            </a:br>
            <a:r>
              <a:rPr lang="en-GB" dirty="0"/>
              <a:t>parameters, and measure how these choices affect the formation, size, and persistence of</a:t>
            </a:r>
            <a:br>
              <a:rPr lang="en-GB" dirty="0"/>
            </a:br>
            <a:r>
              <a:rPr lang="en-GB" dirty="0"/>
              <a:t>cooperative clusters. If time allows, we will also look into endogenous rewiring (cooperative</a:t>
            </a:r>
            <a:br>
              <a:rPr lang="en-GB" dirty="0"/>
            </a:br>
            <a:r>
              <a:rPr lang="en-GB" dirty="0"/>
              <a:t>nodes preferentially attaching to each-other) and its implications (such as potential SOC).</a:t>
            </a:r>
            <a:br>
              <a:rPr lang="en-GB" dirty="0"/>
            </a:br>
            <a:r>
              <a:rPr lang="en-GB" dirty="0"/>
              <a:t>Research questions and hypotheses</a:t>
            </a:r>
            <a:br>
              <a:rPr lang="en-GB" dirty="0"/>
            </a:br>
            <a:r>
              <a:rPr lang="en-GB" dirty="0"/>
              <a:t>Can sustained cooperative behaviour emerge endogenously from networked interactions?</a:t>
            </a:r>
            <a:br>
              <a:rPr lang="en-GB" dirty="0"/>
            </a:br>
            <a:r>
              <a:rPr lang="en-GB" dirty="0"/>
              <a:t>● What are the requirements for such emergence?</a:t>
            </a:r>
            <a:br>
              <a:rPr lang="en-GB" dirty="0"/>
            </a:br>
            <a:r>
              <a:rPr lang="en-GB" dirty="0"/>
              <a:t>● Which network architectures are more or less suited for emerging cooperation?</a:t>
            </a:r>
            <a:br>
              <a:rPr lang="en-GB" dirty="0"/>
            </a:br>
            <a:r>
              <a:rPr lang="en-GB" dirty="0"/>
              <a:t>● How does the cluster size of cooperating clusters change?</a:t>
            </a:r>
            <a:br>
              <a:rPr lang="en-GB" dirty="0"/>
            </a:br>
            <a:r>
              <a:rPr lang="en-GB" dirty="0"/>
              <a:t>● Are there critical points or phase transitions?</a:t>
            </a:r>
            <a:br>
              <a:rPr lang="en-GB" dirty="0"/>
            </a:br>
            <a:r>
              <a:rPr lang="en-GB" dirty="0"/>
              <a:t>● Does percolation appear for certain parameter levels? If so, which?</a:t>
            </a:r>
            <a:br>
              <a:rPr lang="en-GB" dirty="0"/>
            </a:br>
            <a:r>
              <a:rPr lang="en-GB" dirty="0"/>
              <a:t>● How do network structure and parameters affect the correlation/covariance between</a:t>
            </a:r>
            <a:br>
              <a:rPr lang="en-GB" dirty="0"/>
            </a:br>
            <a:r>
              <a:rPr lang="en-GB" dirty="0"/>
              <a:t>an agent’s cooperation and the cooperation of its </a:t>
            </a:r>
            <a:r>
              <a:rPr lang="en-GB" dirty="0" err="1"/>
              <a:t>neighbors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277FEE6-D4D1-8A22-4C6C-BA4DBD40C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9934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PRESENTER" val="42456d2f5f5351937ece8a3df1ccd7879d11180"/>
</p:tagLst>
</file>

<file path=ppt/theme/theme1.xml><?xml version="1.0" encoding="utf-8"?>
<a:theme xmlns:a="http://schemas.openxmlformats.org/drawingml/2006/main" name="blank">
  <a:themeElements>
    <a:clrScheme name="UvA">
      <a:dk1>
        <a:srgbClr val="000000"/>
      </a:dk1>
      <a:lt1>
        <a:srgbClr val="FFFFFF"/>
      </a:lt1>
      <a:dk2>
        <a:srgbClr val="1F1D21"/>
      </a:dk2>
      <a:lt2>
        <a:srgbClr val="FFFFFF"/>
      </a:lt2>
      <a:accent1>
        <a:srgbClr val="751B68"/>
      </a:accent1>
      <a:accent2>
        <a:srgbClr val="BEB511"/>
      </a:accent2>
      <a:accent3>
        <a:srgbClr val="90003E"/>
      </a:accent3>
      <a:accent4>
        <a:srgbClr val="257835"/>
      </a:accent4>
      <a:accent5>
        <a:srgbClr val="004E92"/>
      </a:accent5>
      <a:accent6>
        <a:srgbClr val="E98300"/>
      </a:accent6>
      <a:hlink>
        <a:srgbClr val="009CDD"/>
      </a:hlink>
      <a:folHlink>
        <a:srgbClr val="954F72"/>
      </a:folHlink>
    </a:clrScheme>
    <a:fontScheme name="Custom 1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19-uva-presentatie-16x9---fnwi---nl---faculteit" id="{EB8D55B5-372F-DE44-9635-AD51DB54680F}" vid="{12664C34-D761-2148-A44D-5E691E606D5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EB26C7979E7242A3043123CA461D04" ma:contentTypeVersion="4" ma:contentTypeDescription="Een nieuw document maken." ma:contentTypeScope="" ma:versionID="947128032fa33d4217b1c9b8a9506e64">
  <xsd:schema xmlns:xsd="http://www.w3.org/2001/XMLSchema" xmlns:xs="http://www.w3.org/2001/XMLSchema" xmlns:p="http://schemas.microsoft.com/office/2006/metadata/properties" xmlns:ns2="2014d3d7-ed9a-405e-96dc-0a26f9a75b1e" targetNamespace="http://schemas.microsoft.com/office/2006/metadata/properties" ma:root="true" ma:fieldsID="a9155798b549f333f86d83e0e3ced9ae" ns2:_="">
    <xsd:import namespace="2014d3d7-ed9a-405e-96dc-0a26f9a75b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14d3d7-ed9a-405e-96dc-0a26f9a75b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40B4EE-7306-4015-AD25-B4E5484321A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9DA0326-C6F9-40A3-894F-6061EE46E132}">
  <ds:schemaRefs>
    <ds:schemaRef ds:uri="http://schemas.microsoft.com/office/2006/metadata/properties"/>
    <ds:schemaRef ds:uri="f2760952-b3bb-408f-ace6-eb1e07642b86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2260777-03a2-4acd-8b7f-b7cc27a56620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FAB4FB0-A6B2-4ED4-9E43-2042FF563FD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14d3d7-ed9a-405e-96dc-0a26f9a75b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71</TotalTime>
  <Words>515</Words>
  <Application>Microsoft Macintosh PowerPoint</Application>
  <PresentationFormat>Widescreen</PresentationFormat>
  <Paragraphs>22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Times New Roman</vt:lpstr>
      <vt:lpstr>blank</vt:lpstr>
      <vt:lpstr>RQ1: How do payoff matrices and strategies interact with network structure in terms of the emergence of cooperation?</vt:lpstr>
      <vt:lpstr>PowerPoint Presentation</vt:lpstr>
      <vt:lpstr>PowerPoint Presentation</vt:lpstr>
    </vt:vector>
  </TitlesOfParts>
  <Manager>Chevelie Vermaning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de Groot</dc:creator>
  <dc:description>Deze invoegtoepassing bevat additionele hulpmiddelen voor UvA presentaties. _x000d_
version: 0.1- 2018 MAART, revision: 1340_x000d_
Last save date: 8-3-2018 12:52:14, last saved by: Martin Drenth</dc:description>
  <cp:lastModifiedBy>Tristan Farran</cp:lastModifiedBy>
  <cp:revision>5</cp:revision>
  <dcterms:created xsi:type="dcterms:W3CDTF">2026-01-26T14:02:12Z</dcterms:created>
  <dcterms:modified xsi:type="dcterms:W3CDTF">2026-01-26T17:09:49Z</dcterms:modified>
  <cp:version>0.1- 2018 MAART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0x010100A5EB26C7979E7242A3043123CA461D04</vt:lpwstr>
  </property>
</Properties>
</file>