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3813"/>
  </p:normalViewPr>
  <p:slideViewPr>
    <p:cSldViewPr snapToGrid="0">
      <p:cViewPr varScale="1">
        <p:scale>
          <a:sx n="95" d="100"/>
          <a:sy n="95" d="100"/>
        </p:scale>
        <p:origin x="1120" y="192"/>
      </p:cViewPr>
      <p:guideLst/>
    </p:cSldViewPr>
  </p:slideViewPr>
  <p:notesTextViewPr>
    <p:cViewPr>
      <p:scale>
        <a:sx n="1" d="1"/>
        <a:sy n="1" d="1"/>
      </p:scale>
      <p:origin x="0" y="-16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0CD1B0-6BE9-244A-9B6A-8B64EFF6ED3D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444E9F-FF75-E141-8C23-7B1E5DA8CBC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54097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444E9F-FF75-E141-8C23-7B1E5DA8CBCD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093842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I quantify persistence by mean cooperation bar C after burn-in.</a:t>
            </a:r>
          </a:p>
          <a:p>
            <a:r>
              <a:rPr lang="en-US" altLang="zh-CN" dirty="0"/>
              <a:t>First, payoff dominates (H1): Snowdrift lifts bar C across almost all settings.</a:t>
            </a:r>
          </a:p>
          <a:p>
            <a:r>
              <a:rPr lang="en-US" altLang="zh-CN" dirty="0"/>
              <a:t>Under Default, strategy differences are strong (H2): TFT is much higher; RL is lowest.</a:t>
            </a:r>
          </a:p>
          <a:p>
            <a:r>
              <a:rPr lang="en-US" altLang="zh-CN" dirty="0"/>
              <a:t>And Network modulates - WS tends to help Imitation a bit under Default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444E9F-FF75-E141-8C23-7B1E5DA8CBCD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638965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Next we checked whether it’s stable coexistence or absorption. We want to see the </a:t>
            </a:r>
            <a:r>
              <a:rPr lang="en-US" altLang="zh-CN" b="1" dirty="0"/>
              <a:t>long-run behavior</a:t>
            </a:r>
            <a:r>
              <a:rPr lang="en-US" altLang="zh-CN" dirty="0"/>
              <a:t> of the simulation, beyond just “average cooperation.”</a:t>
            </a:r>
            <a:endParaRPr kumimoji="1"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In </a:t>
            </a:r>
            <a:r>
              <a:rPr lang="en-US" altLang="zh-CN" b="1" dirty="0"/>
              <a:t>Snowdrift</a:t>
            </a:r>
            <a:r>
              <a:rPr lang="en-US" altLang="zh-CN" dirty="0"/>
              <a:t>, almost everything is </a:t>
            </a:r>
            <a:r>
              <a:rPr lang="en-US" altLang="zh-CN" b="1" dirty="0"/>
              <a:t>not absorbed(with the gray portion)</a:t>
            </a:r>
            <a:r>
              <a:rPr lang="en-US" altLang="zh-CN" dirty="0"/>
              <a:t> — it shows </a:t>
            </a:r>
            <a:r>
              <a:rPr lang="en-US" altLang="zh-CN" i="1" dirty="0"/>
              <a:t>stable mixed states</a:t>
            </a:r>
            <a:r>
              <a:rPr lang="en-US" altLang="zh-CN" dirty="0"/>
              <a:t> rather than fixation.</a:t>
            </a:r>
          </a:p>
          <a:p>
            <a:r>
              <a:rPr lang="en-US" altLang="zh-CN" dirty="0"/>
              <a:t>TFT is the only case that shows </a:t>
            </a:r>
            <a:r>
              <a:rPr lang="en-US" altLang="zh-CN" b="1" dirty="0"/>
              <a:t>meaningful all-C probability</a:t>
            </a:r>
            <a:r>
              <a:rPr lang="en-US" altLang="zh-CN" dirty="0"/>
              <a:t> (especially on Grid/WS), indicating cluster protection.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In </a:t>
            </a:r>
            <a:r>
              <a:rPr lang="en-US" altLang="zh-CN" b="1" dirty="0"/>
              <a:t>Default</a:t>
            </a:r>
            <a:r>
              <a:rPr lang="en-US" altLang="zh-CN" dirty="0"/>
              <a:t>, Imitation tends to </a:t>
            </a:r>
            <a:r>
              <a:rPr lang="en-US" altLang="zh-CN" b="1" dirty="0"/>
              <a:t>end in all-D</a:t>
            </a:r>
            <a:r>
              <a:rPr lang="en-US" altLang="zh-CN" dirty="0"/>
              <a:t> a lot, while RL is mostly </a:t>
            </a:r>
            <a:r>
              <a:rPr lang="en-US" altLang="zh-CN" b="1" dirty="0"/>
              <a:t>not absorbed</a:t>
            </a:r>
            <a:r>
              <a:rPr lang="en-US" altLang="zh-CN" dirty="0"/>
              <a:t> but at </a:t>
            </a:r>
            <a:r>
              <a:rPr lang="en-US" altLang="zh-CN" b="1" dirty="0"/>
              <a:t>very low cooperation</a:t>
            </a:r>
            <a:r>
              <a:rPr lang="en-US" altLang="zh-CN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So we can say, high bar C in Snowdrift is </a:t>
            </a:r>
            <a:r>
              <a:rPr lang="en-US" altLang="zh-CN" i="1" dirty="0"/>
              <a:t>not</a:t>
            </a:r>
            <a:r>
              <a:rPr lang="en-US" altLang="zh-CN" dirty="0"/>
              <a:t> from all-C fixation; it’s from persistent mixed cooperation.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Overall, we find that </a:t>
            </a:r>
            <a:r>
              <a:rPr lang="en-US" altLang="zh-CN" b="1" dirty="0"/>
              <a:t>cooperation persistence is highly sensitive to both the update strategy and the payoff matrix.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b="1" dirty="0"/>
              <a:t>--- maybe that’s the reason we tune the payoff parameter to see the </a:t>
            </a:r>
            <a:r>
              <a:rPr lang="en-US" altLang="zh-CN" b="1"/>
              <a:t>phase transition. </a:t>
            </a:r>
            <a:endParaRPr lang="en-US" altLang="zh-CN" dirty="0"/>
          </a:p>
          <a:p>
            <a:endParaRPr lang="en-US" altLang="zh-CN" dirty="0"/>
          </a:p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444E9F-FF75-E141-8C23-7B1E5DA8CBCD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55145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48AF85-D515-0D26-A57D-CB6040CC8B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CE63707-BA08-878F-6935-95CC2331C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DE88C42-C541-3575-11EB-A4B71204B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5F84CB3-C6E4-CB14-3A6E-9C5242D3D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149406-FB8D-820A-4C0D-20AA89408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777243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B9B8EC-8F00-7173-EBE7-0395B205F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2D5E69-2A20-24DD-DFA7-580823B83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E6E613-1FD5-A430-5E62-A763CAA79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841686-7467-B78A-2777-E888E7977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03B6A5B-E5DC-1FE2-53B7-3F2E670D7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091809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C2B1F7-F91E-88D5-6CA0-B888A9DF7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8115EB-2F60-3405-BDAE-008F0BA1B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8BA5B4-5F88-C17C-C8A5-8F6EC6F57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0053292-D184-33EF-58EE-5134A72D9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53195F-AB84-63FD-C88D-93A0CD0E5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124095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670583-527F-D8EC-FCDA-538D0586A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C469C8-3ABC-A150-C61E-87AD0E9710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A9770C0-9CBF-E2CE-A0E4-119F95D9AD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C0D4648-3D11-EB56-7C7D-5C5E2CE53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8422714-5644-7319-7EED-1A545AEBB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8BD8BB-168D-93B4-5D5A-73077646B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24713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DAFD5A-D538-EC00-DB7D-77DE963D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451D53-38FA-BF28-0429-CFC398AC45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6BEDB94-68FE-72EF-A13A-52BCCC828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2AAB59-2CA7-621A-C948-F596C880E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1981BC4-BF52-8678-6019-A02229D38E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F2DEF0A-3930-F25F-C969-85580B8BC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C4455DC-8250-9659-2642-436EA05FA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BA730E6-B6B8-605E-1BDE-9AF2F3EB0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3306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E6430C-D7DD-1F95-C52E-4D38BE0D7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6AF57F5-5BF4-DAE6-5FD8-88F151EA6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C253E1D-A8CB-6A5C-45D2-331B21F5E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7466797-8541-A17E-8C00-BD96674FE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4827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DD62C5C-2CC8-395B-6B37-487FF9E99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F5F8DEF-C82F-32F9-E4BC-EBD1A0947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4F39D9B-81DA-5F6E-2493-96DEBE20B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50307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FB95D1-6510-7BE1-FB23-246750B17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C16CC3-90D9-3AEE-8503-E925503B16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521D00B-A7F7-2C1A-D3EE-83BD17839A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910C0BF-DE13-5265-2FBC-226FED3C0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C950829-A420-8856-15D8-5952B6EE0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8C1179A-6D34-F05E-8ABD-98FD47EC2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9827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272F46-BBBE-9357-FE26-B7B19018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8F48E5A-E4C7-DE6E-1C38-7F8EC7859A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BB950A-A448-D68A-BA91-E59B0B0B03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EF80D2D-6485-A437-231C-D07DF9213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B7E97EB-F44C-349D-C723-0E049860D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9E442C-B073-C143-5B33-E8533C6AE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4053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7631DB-5338-4A4A-C43E-99EE8710D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6947393-4A73-70E7-B234-81C1B58257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6A2BD5-20B7-3DF5-E90A-1D1E1513F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9D2CB3-8C27-C40E-436D-E5CFDF681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26E36-79AE-F454-6EDA-6C705FAAD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4646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297A856-C929-1A98-21CC-C9150A4D2A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5102A2E-CEB9-C067-A5FD-D172761061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82A693-DB7A-1D72-BEA8-A714DB61A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8B4B69-5288-9A69-DA2A-F57C4BA9A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75E330-0067-7210-BB88-EA4828F4B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731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622DD10-74A3-280C-D706-DD8498C0B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097C0E-4F18-C697-CAB4-73E1845387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CE8F836-06D4-EF89-3437-A728EAD493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4EA6AE4-D434-2BA2-B403-447B4E3D70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AB402B-6789-590B-916E-21DD1DF7DF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49370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B828A76-14C2-5D15-ED7B-30161D9D5C1A}"/>
              </a:ext>
            </a:extLst>
          </p:cNvPr>
          <p:cNvSpPr txBox="1"/>
          <p:nvPr/>
        </p:nvSpPr>
        <p:spPr>
          <a:xfrm>
            <a:off x="0" y="386862"/>
            <a:ext cx="5533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0070C0"/>
                </a:solidFill>
                <a:latin typeface="Georgia" panose="02040502050405020303" pitchFamily="18" charset="0"/>
                <a:cs typeface="Calibri" panose="020F0502020204030204" pitchFamily="34" charset="0"/>
              </a:rPr>
              <a:t>RQ: Does cooperation persist?</a:t>
            </a:r>
            <a:endParaRPr kumimoji="1" lang="zh-CN" altLang="en-US" sz="2400" b="1" dirty="0">
              <a:solidFill>
                <a:srgbClr val="0070C0"/>
              </a:solidFill>
              <a:latin typeface="Georgia" panose="02040502050405020303" pitchFamily="18" charset="0"/>
              <a:cs typeface="Calibri" panose="020F050202020403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720AED-F7C9-A3C4-C472-6CF9C0C95211}"/>
              </a:ext>
            </a:extLst>
          </p:cNvPr>
          <p:cNvSpPr txBox="1"/>
          <p:nvPr/>
        </p:nvSpPr>
        <p:spPr>
          <a:xfrm>
            <a:off x="410306" y="1756735"/>
            <a:ext cx="11570678" cy="2380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zh-CN" sz="2600" b="1" dirty="0">
                <a:latin typeface="Calibri" panose="020F0502020204030204" pitchFamily="34" charset="0"/>
                <a:cs typeface="Calibri" panose="020F0502020204030204" pitchFamily="34" charset="0"/>
              </a:rPr>
              <a:t>H0.1 Payoff:</a:t>
            </a:r>
            <a:r>
              <a:rPr lang="en-US" altLang="zh-CN" sz="2600" dirty="0">
                <a:latin typeface="Calibri" panose="020F0502020204030204" pitchFamily="34" charset="0"/>
                <a:cs typeface="Calibri" panose="020F0502020204030204" pitchFamily="34" charset="0"/>
              </a:rPr>
              <a:t> Snowdrift supports higher persistent cooperation than Default.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zh-CN" sz="2600" b="1" dirty="0">
                <a:latin typeface="Calibri" panose="020F0502020204030204" pitchFamily="34" charset="0"/>
                <a:cs typeface="Calibri" panose="020F0502020204030204" pitchFamily="34" charset="0"/>
              </a:rPr>
              <a:t>H0.2 Strategy:</a:t>
            </a:r>
            <a:r>
              <a:rPr lang="en-US" altLang="zh-CN" sz="2600" dirty="0">
                <a:latin typeface="Calibri" panose="020F0502020204030204" pitchFamily="34" charset="0"/>
                <a:cs typeface="Calibri" panose="020F0502020204030204" pitchFamily="34" charset="0"/>
              </a:rPr>
              <a:t> TFT sustains cooperation more than Imitate/RL.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zh-CN" sz="2600" b="1" dirty="0">
                <a:latin typeface="Calibri" panose="020F0502020204030204" pitchFamily="34" charset="0"/>
                <a:cs typeface="Calibri" panose="020F0502020204030204" pitchFamily="34" charset="0"/>
              </a:rPr>
              <a:t>H0.3 Network:</a:t>
            </a:r>
            <a:r>
              <a:rPr lang="en-US" altLang="zh-CN" sz="2600" dirty="0">
                <a:latin typeface="Calibri" panose="020F0502020204030204" pitchFamily="34" charset="0"/>
                <a:cs typeface="Calibri" panose="020F0502020204030204" pitchFamily="34" charset="0"/>
              </a:rPr>
              <a:t> Structure (Grid/WS vs ER) moderates persistence.</a:t>
            </a:r>
          </a:p>
        </p:txBody>
      </p:sp>
    </p:spTree>
    <p:extLst>
      <p:ext uri="{BB962C8B-B14F-4D97-AF65-F5344CB8AC3E}">
        <p14:creationId xmlns:p14="http://schemas.microsoft.com/office/powerpoint/2010/main" val="1907625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B828A76-14C2-5D15-ED7B-30161D9D5C1A}"/>
              </a:ext>
            </a:extLst>
          </p:cNvPr>
          <p:cNvSpPr txBox="1"/>
          <p:nvPr/>
        </p:nvSpPr>
        <p:spPr>
          <a:xfrm>
            <a:off x="199293" y="14959"/>
            <a:ext cx="3915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solidFill>
                  <a:srgbClr val="0070C0"/>
                </a:solidFill>
                <a:latin typeface="Georgia" panose="02040502050405020303" pitchFamily="18" charset="0"/>
                <a:cs typeface="Calibri" panose="020F0502020204030204" pitchFamily="34" charset="0"/>
              </a:rPr>
              <a:t>RQ: Does cooperation persist?</a:t>
            </a:r>
            <a:endParaRPr kumimoji="1" lang="zh-CN" altLang="en-US" b="1" dirty="0">
              <a:solidFill>
                <a:srgbClr val="0070C0"/>
              </a:solidFill>
              <a:latin typeface="Georgia" panose="02040502050405020303" pitchFamily="18" charset="0"/>
              <a:cs typeface="Calibri" panose="020F050202020403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7E84358-E79A-B718-1596-1BB2BFF1F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198" y="3793754"/>
            <a:ext cx="9334501" cy="306424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A415C993-167B-386C-D541-1C6D3FCA4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198" y="556900"/>
            <a:ext cx="9334500" cy="306424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B2C27237-FDDC-2FBC-D7EC-ABF40FB156C2}"/>
              </a:ext>
            </a:extLst>
          </p:cNvPr>
          <p:cNvSpPr txBox="1"/>
          <p:nvPr/>
        </p:nvSpPr>
        <p:spPr>
          <a:xfrm>
            <a:off x="343875" y="4636257"/>
            <a:ext cx="1383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latin typeface="Georgia" panose="02040502050405020303" pitchFamily="18" charset="0"/>
              </a:rPr>
              <a:t>Default</a:t>
            </a:r>
            <a:endParaRPr kumimoji="1" lang="zh-CN" altLang="en-US" b="1" dirty="0">
              <a:latin typeface="Georgia" panose="02040502050405020303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99CCC24-4B17-433A-617A-F99965C6F968}"/>
              </a:ext>
            </a:extLst>
          </p:cNvPr>
          <p:cNvSpPr txBox="1"/>
          <p:nvPr/>
        </p:nvSpPr>
        <p:spPr>
          <a:xfrm>
            <a:off x="199293" y="1670465"/>
            <a:ext cx="1383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latin typeface="Georgia" panose="02040502050405020303" pitchFamily="18" charset="0"/>
              </a:rPr>
              <a:t>Snowdrift</a:t>
            </a:r>
            <a:endParaRPr kumimoji="1" lang="zh-CN" altLang="en-US" b="1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92918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B828A76-14C2-5D15-ED7B-30161D9D5C1A}"/>
              </a:ext>
            </a:extLst>
          </p:cNvPr>
          <p:cNvSpPr txBox="1"/>
          <p:nvPr/>
        </p:nvSpPr>
        <p:spPr>
          <a:xfrm>
            <a:off x="186593" y="46214"/>
            <a:ext cx="3915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solidFill>
                  <a:srgbClr val="0070C0"/>
                </a:solidFill>
                <a:latin typeface="Georgia" panose="02040502050405020303" pitchFamily="18" charset="0"/>
                <a:cs typeface="Calibri" panose="020F0502020204030204" pitchFamily="34" charset="0"/>
              </a:rPr>
              <a:t>RQ: Does cooperation persist?</a:t>
            </a:r>
            <a:endParaRPr kumimoji="1" lang="zh-CN" altLang="en-US" b="1" dirty="0">
              <a:solidFill>
                <a:srgbClr val="0070C0"/>
              </a:solidFill>
              <a:latin typeface="Georgia" panose="02040502050405020303" pitchFamily="18" charset="0"/>
              <a:cs typeface="Calibri" panose="020F050202020403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DCF5483-E1D4-EEA3-F0A1-0A9C2BB3B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622" y="3636773"/>
            <a:ext cx="9349153" cy="322122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C7882CE-6FB1-3D67-0502-3C371D4E5F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4621" y="415546"/>
            <a:ext cx="9349153" cy="3221227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733BBA87-CCFA-D90F-140E-16B95F0BDF97}"/>
              </a:ext>
            </a:extLst>
          </p:cNvPr>
          <p:cNvSpPr txBox="1"/>
          <p:nvPr/>
        </p:nvSpPr>
        <p:spPr>
          <a:xfrm>
            <a:off x="389793" y="5203358"/>
            <a:ext cx="1383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latin typeface="Georgia" panose="02040502050405020303" pitchFamily="18" charset="0"/>
              </a:rPr>
              <a:t>Default</a:t>
            </a:r>
            <a:endParaRPr kumimoji="1" lang="zh-CN" altLang="en-US" b="1" dirty="0">
              <a:latin typeface="Georgia" panose="02040502050405020303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31F7A20-5AF3-9E0B-3F9B-69271055282F}"/>
              </a:ext>
            </a:extLst>
          </p:cNvPr>
          <p:cNvSpPr txBox="1"/>
          <p:nvPr/>
        </p:nvSpPr>
        <p:spPr>
          <a:xfrm>
            <a:off x="245211" y="1797465"/>
            <a:ext cx="1383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latin typeface="Georgia" panose="02040502050405020303" pitchFamily="18" charset="0"/>
              </a:rPr>
              <a:t>Snowdrift</a:t>
            </a:r>
            <a:endParaRPr kumimoji="1" lang="zh-CN" altLang="en-US" b="1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7027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275</Words>
  <Application>Microsoft Macintosh PowerPoint</Application>
  <PresentationFormat>宽屏</PresentationFormat>
  <Paragraphs>24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9" baseType="lpstr">
      <vt:lpstr>等线</vt:lpstr>
      <vt:lpstr>等线 Light</vt:lpstr>
      <vt:lpstr>Arial</vt:lpstr>
      <vt:lpstr>Calibri</vt:lpstr>
      <vt:lpstr>Georgia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Zheng Xia</dc:creator>
  <cp:lastModifiedBy>Zheng Xia</cp:lastModifiedBy>
  <cp:revision>6</cp:revision>
  <dcterms:created xsi:type="dcterms:W3CDTF">2026-01-27T11:50:10Z</dcterms:created>
  <dcterms:modified xsi:type="dcterms:W3CDTF">2026-01-27T12:33:37Z</dcterms:modified>
</cp:coreProperties>
</file>