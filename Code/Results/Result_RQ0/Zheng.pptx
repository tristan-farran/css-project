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86157"/>
  </p:normalViewPr>
  <p:slideViewPr>
    <p:cSldViewPr snapToGrid="0">
      <p:cViewPr varScale="1">
        <p:scale>
          <a:sx n="103" d="100"/>
          <a:sy n="103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-15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CD1B0-6BE9-244A-9B6A-8B64EFF6ED3D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44E9F-FF75-E141-8C23-7B1E5DA8CB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4097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44E9F-FF75-E141-8C23-7B1E5DA8CBCD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9384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 quantify persistence by mean cooperation bar C after burn-in.</a:t>
            </a:r>
          </a:p>
          <a:p>
            <a:r>
              <a:rPr lang="en-US" altLang="zh-CN" dirty="0"/>
              <a:t>First, payoff dominates (H1): Snowdrift lifts bar C across almost all settings.</a:t>
            </a:r>
          </a:p>
          <a:p>
            <a:r>
              <a:rPr lang="en-US" altLang="zh-CN" dirty="0"/>
              <a:t>Under Default, strategy differences are strong (H2): TFT is much higher; RL is lowest.</a:t>
            </a:r>
          </a:p>
          <a:p>
            <a:r>
              <a:rPr lang="en-US" altLang="zh-CN" dirty="0"/>
              <a:t>And Network modulates - WS tends to help Imitation a bit under Default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44E9F-FF75-E141-8C23-7B1E5DA8CBCD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3896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Next we checked whether it’s stable coexistence or absorption. We want to see the </a:t>
            </a:r>
            <a:r>
              <a:rPr lang="en-US" altLang="zh-CN" b="1" dirty="0"/>
              <a:t>long-run behavior</a:t>
            </a:r>
            <a:r>
              <a:rPr lang="en-US" altLang="zh-CN" dirty="0"/>
              <a:t> of the simulation, beyond just “average cooperation.”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In </a:t>
            </a:r>
            <a:r>
              <a:rPr lang="en-US" altLang="zh-CN" b="1" dirty="0"/>
              <a:t>Snowdrift</a:t>
            </a:r>
            <a:r>
              <a:rPr lang="en-US" altLang="zh-CN" dirty="0"/>
              <a:t>, almost everything is </a:t>
            </a:r>
            <a:r>
              <a:rPr lang="en-US" altLang="zh-CN" b="1" dirty="0"/>
              <a:t>not absorbed(with the gray portion)</a:t>
            </a:r>
            <a:r>
              <a:rPr lang="en-US" altLang="zh-CN" dirty="0"/>
              <a:t> — it shows </a:t>
            </a:r>
            <a:r>
              <a:rPr lang="en-US" altLang="zh-CN" i="1" dirty="0"/>
              <a:t>stable mixed states</a:t>
            </a:r>
            <a:r>
              <a:rPr lang="en-US" altLang="zh-CN" dirty="0"/>
              <a:t> rather than fixation.</a:t>
            </a:r>
          </a:p>
          <a:p>
            <a:r>
              <a:rPr lang="en-US" altLang="zh-CN" dirty="0"/>
              <a:t>TFT is the only case that shows </a:t>
            </a:r>
            <a:r>
              <a:rPr lang="en-US" altLang="zh-CN" b="1" dirty="0"/>
              <a:t>meaningful all-C probability</a:t>
            </a:r>
            <a:r>
              <a:rPr lang="en-US" altLang="zh-CN" dirty="0"/>
              <a:t> (especially on Grid/WS), indicating cluster protection.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In </a:t>
            </a:r>
            <a:r>
              <a:rPr lang="en-US" altLang="zh-CN" b="1" dirty="0"/>
              <a:t>Default</a:t>
            </a:r>
            <a:r>
              <a:rPr lang="en-US" altLang="zh-CN" dirty="0"/>
              <a:t>, Imitation tends to </a:t>
            </a:r>
            <a:r>
              <a:rPr lang="en-US" altLang="zh-CN" b="1" dirty="0"/>
              <a:t>end in all-D</a:t>
            </a:r>
            <a:r>
              <a:rPr lang="en-US" altLang="zh-CN" dirty="0"/>
              <a:t> a lot, while RL is mostly </a:t>
            </a:r>
            <a:r>
              <a:rPr lang="en-US" altLang="zh-CN" b="1" dirty="0"/>
              <a:t>not absorbed</a:t>
            </a:r>
            <a:r>
              <a:rPr lang="en-US" altLang="zh-CN" dirty="0"/>
              <a:t> but at </a:t>
            </a:r>
            <a:r>
              <a:rPr lang="en-US" altLang="zh-CN" b="1" dirty="0"/>
              <a:t>very low cooperation</a:t>
            </a:r>
            <a:r>
              <a:rPr lang="en-US" altLang="zh-CN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So we can say, high bar C in Snowdrift is </a:t>
            </a:r>
            <a:r>
              <a:rPr lang="en-US" altLang="zh-CN" i="1" dirty="0"/>
              <a:t>not</a:t>
            </a:r>
            <a:r>
              <a:rPr lang="en-US" altLang="zh-CN" dirty="0"/>
              <a:t> from all-C fixation; it’s from persistent mixed cooperation.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Overall, we find that </a:t>
            </a:r>
            <a:r>
              <a:rPr lang="en-US" altLang="zh-CN" b="1" dirty="0"/>
              <a:t>cooperation persistence is highly sensitive to both the update strategy and the payoff matrix.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/>
              <a:t>--- maybe that’s the reason we tune the payoff parameter to see the phase transition. </a:t>
            </a:r>
            <a:endParaRPr lang="en-US" altLang="zh-CN" dirty="0"/>
          </a:p>
          <a:p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44E9F-FF75-E141-8C23-7B1E5DA8CBCD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5145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observe a sharp drop in </a:t>
            </a:r>
            <a:r>
              <a:rPr lang="en-US" altLang="zh-CN" dirty="0" err="1"/>
              <a:t>Pr</a:t>
            </a:r>
            <a:r>
              <a:rPr lang="en-US" altLang="zh-CN" dirty="0"/>
              <a:t>(all-D) over a narrow </a:t>
            </a:r>
            <a:r>
              <a:rPr lang="el-GR" altLang="zh-CN" dirty="0"/>
              <a:t>β-</a:t>
            </a:r>
            <a:r>
              <a:rPr lang="en-US" altLang="zh-CN" dirty="0"/>
              <a:t>interval, and the maximum slope magnitude increases from N=100 to N=900, consistent with finite-size sharpening.</a:t>
            </a:r>
          </a:p>
          <a:p>
            <a:r>
              <a:rPr lang="en-US" altLang="zh-CN" dirty="0"/>
              <a:t>Under Imitation, WS networks show a sharp drop in the probability of all-D fixation, and this drop becomes steeper as N increases—behavior consistent with a finite-size phase transition (absorbing all-D → active/non-absorbed regime).</a:t>
            </a:r>
          </a:p>
          <a:p>
            <a:endParaRPr lang="en-US" altLang="zh-CN" dirty="0"/>
          </a:p>
          <a:p>
            <a:r>
              <a:rPr lang="en-US" altLang="zh-CN" b="1" dirty="0"/>
              <a:t>Grid shows the same qualitative behavior</a:t>
            </a:r>
            <a:r>
              <a:rPr lang="en-US" altLang="zh-CN" dirty="0"/>
              <a:t>—a sharp decrease in </a:t>
            </a:r>
            <a:r>
              <a:rPr lang="en-US" altLang="zh-CN" dirty="0" err="1"/>
              <a:t>Pr</a:t>
            </a:r>
            <a:r>
              <a:rPr lang="en-US" altLang="zh-CN" dirty="0"/>
              <a:t>(all-D)over a relatively narrow </a:t>
            </a:r>
            <a:r>
              <a:rPr lang="el-GR" altLang="zh-CN" dirty="0"/>
              <a:t>β </a:t>
            </a:r>
            <a:r>
              <a:rPr lang="en-US" altLang="zh-CN" dirty="0"/>
              <a:t>range—</a:t>
            </a:r>
            <a:r>
              <a:rPr lang="en-US" altLang="zh-CN" b="1" dirty="0"/>
              <a:t>suggesting a similar transition-like crossover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However, </a:t>
            </a:r>
            <a:r>
              <a:rPr lang="en-US" altLang="zh-CN" b="1" dirty="0"/>
              <a:t>the estimated transition location varies more across the grid sizes we tested</a:t>
            </a:r>
            <a:r>
              <a:rPr lang="en-US" altLang="zh-CN" dirty="0"/>
              <a:t>, so we treat the Grid evidence as </a:t>
            </a:r>
            <a:r>
              <a:rPr lang="en-US" altLang="zh-CN" b="1" dirty="0"/>
              <a:t>preliminary</a:t>
            </a:r>
            <a:r>
              <a:rPr lang="en-US" altLang="zh-CN" dirty="0"/>
              <a:t> compared with the clearer finite-size sharpening observed in WS.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44E9F-FF75-E141-8C23-7B1E5DA8CBCD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3331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48AF85-D515-0D26-A57D-CB6040CC8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E63707-BA08-878F-6935-95CC2331C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E88C42-C541-3575-11EB-A4B71204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D2C6-6655-1649-90B5-08900A4C1C67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F84CB3-C6E4-CB14-3A6E-9C5242D3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149406-FB8D-820A-4C0D-20AA89408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6634-4B81-3345-BB54-9CABFD22207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772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B9B8EC-8F00-7173-EBE7-0395B205F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2D5E69-2A20-24DD-DFA7-580823B83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E6E613-1FD5-A430-5E62-A763CAA79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D2C6-6655-1649-90B5-08900A4C1C67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841686-7467-B78A-2777-E888E7977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3B6A5B-E5DC-1FE2-53B7-3F2E670D7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6634-4B81-3345-BB54-9CABFD22207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918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2B1F7-F91E-88D5-6CA0-B888A9DF7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8115EB-2F60-3405-BDAE-008F0BA1B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BA5B4-5F88-C17C-C8A5-8F6EC6F57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D2C6-6655-1649-90B5-08900A4C1C67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053292-D184-33EF-58EE-5134A72D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3195F-AB84-63FD-C88D-93A0CD0E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6634-4B81-3345-BB54-9CABFD22207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240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70583-527F-D8EC-FCDA-538D0586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469C8-3ABC-A150-C61E-87AD0E971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9770C0-9CBF-E2CE-A0E4-119F95D9A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0D4648-3D11-EB56-7C7D-5C5E2CE53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D2C6-6655-1649-90B5-08900A4C1C67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422714-5644-7319-7EED-1A545AEB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8BD8BB-168D-93B4-5D5A-73077646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6634-4B81-3345-BB54-9CABFD22207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471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DAFD5A-D538-EC00-DB7D-77DE963D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451D53-38FA-BF28-0429-CFC398AC4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BEDB94-68FE-72EF-A13A-52BCCC828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2AAB59-2CA7-621A-C948-F596C880E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981BC4-BF52-8678-6019-A02229D38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2DEF0A-3930-F25F-C969-85580B8BC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D2C6-6655-1649-90B5-08900A4C1C67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4455DC-8250-9659-2642-436EA05FA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A730E6-B6B8-605E-1BDE-9AF2F3EB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6634-4B81-3345-BB54-9CABFD22207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330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6430C-D7DD-1F95-C52E-4D38BE0D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6AF57F5-5BF4-DAE6-5FD8-88F151EA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D2C6-6655-1649-90B5-08900A4C1C67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253E1D-A8CB-6A5C-45D2-331B21F5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466797-8541-A17E-8C00-BD96674F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6634-4B81-3345-BB54-9CABFD22207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482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D62C5C-2CC8-395B-6B37-487FF9E9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D2C6-6655-1649-90B5-08900A4C1C67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5F8DEF-C82F-32F9-E4BC-EBD1A0947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F39D9B-81DA-5F6E-2493-96DEBE20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6634-4B81-3345-BB54-9CABFD22207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030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FB95D1-6510-7BE1-FB23-246750B1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C16CC3-90D9-3AEE-8503-E925503B1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21D00B-A7F7-2C1A-D3EE-83BD17839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10C0BF-DE13-5265-2FBC-226FED3C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D2C6-6655-1649-90B5-08900A4C1C67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950829-A420-8856-15D8-5952B6EE0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C1179A-6D34-F05E-8ABD-98FD47EC2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6634-4B81-3345-BB54-9CABFD22207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827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72F46-BBBE-9357-FE26-B7B19018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F48E5A-E4C7-DE6E-1C38-7F8EC7859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BB950A-A448-D68A-BA91-E59B0B0B0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F80D2D-6485-A437-231C-D07DF9213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D2C6-6655-1649-90B5-08900A4C1C67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7E97EB-F44C-349D-C723-0E049860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9E442C-B073-C143-5B33-E8533C6AE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6634-4B81-3345-BB54-9CABFD22207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4053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7631DB-5338-4A4A-C43E-99EE8710D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947393-4A73-70E7-B234-81C1B5825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6A2BD5-20B7-3DF5-E90A-1D1E1513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D2C6-6655-1649-90B5-08900A4C1C67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9D2CB3-8C27-C40E-436D-E5CFDF68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26E36-79AE-F454-6EDA-6C705FAA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6634-4B81-3345-BB54-9CABFD22207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464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297A856-C929-1A98-21CC-C9150A4D2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102A2E-CEB9-C067-A5FD-D17276106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82A693-DB7A-1D72-BEA8-A714DB61A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D2C6-6655-1649-90B5-08900A4C1C67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8B4B69-5288-9A69-DA2A-F57C4BA9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75E330-0067-7210-BB88-EA4828F4B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6634-4B81-3345-BB54-9CABFD22207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73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622DD10-74A3-280C-D706-DD8498C0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097C0E-4F18-C697-CAB4-73E184538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E8F836-06D4-EF89-3437-A728EAD493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8D2C6-6655-1649-90B5-08900A4C1C67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EA6AE4-D434-2BA2-B403-447B4E3D7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AB402B-6789-590B-916E-21DD1DF7D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76634-4B81-3345-BB54-9CABFD22207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9370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B828A76-14C2-5D15-ED7B-30161D9D5C1A}"/>
              </a:ext>
            </a:extLst>
          </p:cNvPr>
          <p:cNvSpPr txBox="1"/>
          <p:nvPr/>
        </p:nvSpPr>
        <p:spPr>
          <a:xfrm>
            <a:off x="0" y="386862"/>
            <a:ext cx="5533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RQ: Does cooperation persist?</a:t>
            </a:r>
            <a:endParaRPr kumimoji="1" lang="zh-CN" altLang="en-US" sz="2400" b="1" dirty="0">
              <a:solidFill>
                <a:srgbClr val="0070C0"/>
              </a:solidFill>
              <a:latin typeface="Georgia" panose="02040502050405020303" pitchFamily="18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720AED-F7C9-A3C4-C472-6CF9C0C95211}"/>
              </a:ext>
            </a:extLst>
          </p:cNvPr>
          <p:cNvSpPr txBox="1"/>
          <p:nvPr/>
        </p:nvSpPr>
        <p:spPr>
          <a:xfrm>
            <a:off x="410306" y="1756735"/>
            <a:ext cx="11570678" cy="2380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H0.1 Payoff: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 Snowdrift supports higher persistent cooperation than Default.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H0.2 Strategy: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 TFT sustains cooperation more than Imitate/RL.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H0.3 Network: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 Structure (Grid/WS vs ER) moderates persistence.</a:t>
            </a:r>
          </a:p>
        </p:txBody>
      </p:sp>
    </p:spTree>
    <p:extLst>
      <p:ext uri="{BB962C8B-B14F-4D97-AF65-F5344CB8AC3E}">
        <p14:creationId xmlns:p14="http://schemas.microsoft.com/office/powerpoint/2010/main" val="190762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B828A76-14C2-5D15-ED7B-30161D9D5C1A}"/>
              </a:ext>
            </a:extLst>
          </p:cNvPr>
          <p:cNvSpPr txBox="1"/>
          <p:nvPr/>
        </p:nvSpPr>
        <p:spPr>
          <a:xfrm>
            <a:off x="199293" y="14959"/>
            <a:ext cx="3915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0070C0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RQ: Does cooperation persist?</a:t>
            </a:r>
            <a:endParaRPr kumimoji="1" lang="zh-CN" altLang="en-US" b="1" dirty="0">
              <a:solidFill>
                <a:srgbClr val="0070C0"/>
              </a:solidFill>
              <a:latin typeface="Georgia" panose="02040502050405020303" pitchFamily="18" charset="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E84358-E79A-B718-1596-1BB2BFF1F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198" y="3793754"/>
            <a:ext cx="9334501" cy="306424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415C993-167B-386C-D541-1C6D3FCA4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198" y="556900"/>
            <a:ext cx="9334500" cy="306424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2C27237-FDDC-2FBC-D7EC-ABF40FB156C2}"/>
              </a:ext>
            </a:extLst>
          </p:cNvPr>
          <p:cNvSpPr txBox="1"/>
          <p:nvPr/>
        </p:nvSpPr>
        <p:spPr>
          <a:xfrm>
            <a:off x="343875" y="4636257"/>
            <a:ext cx="138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Georgia" panose="02040502050405020303" pitchFamily="18" charset="0"/>
              </a:rPr>
              <a:t>Default</a:t>
            </a:r>
            <a:endParaRPr kumimoji="1" lang="zh-CN" altLang="en-US" b="1" dirty="0">
              <a:latin typeface="Georgia" panose="02040502050405020303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9CCC24-4B17-433A-617A-F99965C6F968}"/>
              </a:ext>
            </a:extLst>
          </p:cNvPr>
          <p:cNvSpPr txBox="1"/>
          <p:nvPr/>
        </p:nvSpPr>
        <p:spPr>
          <a:xfrm>
            <a:off x="199293" y="1670465"/>
            <a:ext cx="138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Georgia" panose="02040502050405020303" pitchFamily="18" charset="0"/>
              </a:rPr>
              <a:t>Snowdrift</a:t>
            </a:r>
            <a:endParaRPr kumimoji="1" lang="zh-CN" altLang="en-US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291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B828A76-14C2-5D15-ED7B-30161D9D5C1A}"/>
              </a:ext>
            </a:extLst>
          </p:cNvPr>
          <p:cNvSpPr txBox="1"/>
          <p:nvPr/>
        </p:nvSpPr>
        <p:spPr>
          <a:xfrm>
            <a:off x="186593" y="46214"/>
            <a:ext cx="3915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0070C0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RQ: Does cooperation persist?</a:t>
            </a:r>
            <a:endParaRPr kumimoji="1" lang="zh-CN" altLang="en-US" b="1" dirty="0">
              <a:solidFill>
                <a:srgbClr val="0070C0"/>
              </a:solidFill>
              <a:latin typeface="Georgia" panose="02040502050405020303" pitchFamily="18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CF5483-E1D4-EEA3-F0A1-0A9C2BB3B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622" y="3636773"/>
            <a:ext cx="9349153" cy="32212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C7882CE-6FB1-3D67-0502-3C371D4E5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621" y="415546"/>
            <a:ext cx="9349153" cy="322122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33BBA87-CCFA-D90F-140E-16B95F0BDF97}"/>
              </a:ext>
            </a:extLst>
          </p:cNvPr>
          <p:cNvSpPr txBox="1"/>
          <p:nvPr/>
        </p:nvSpPr>
        <p:spPr>
          <a:xfrm>
            <a:off x="389793" y="5203358"/>
            <a:ext cx="138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Georgia" panose="02040502050405020303" pitchFamily="18" charset="0"/>
              </a:rPr>
              <a:t>Default</a:t>
            </a:r>
            <a:endParaRPr kumimoji="1" lang="zh-CN" altLang="en-US" b="1" dirty="0">
              <a:latin typeface="Georgia" panose="02040502050405020303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1F7A20-5AF3-9E0B-3F9B-69271055282F}"/>
              </a:ext>
            </a:extLst>
          </p:cNvPr>
          <p:cNvSpPr txBox="1"/>
          <p:nvPr/>
        </p:nvSpPr>
        <p:spPr>
          <a:xfrm>
            <a:off x="245211" y="1797465"/>
            <a:ext cx="138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Georgia" panose="02040502050405020303" pitchFamily="18" charset="0"/>
              </a:rPr>
              <a:t>Snowdrift</a:t>
            </a:r>
            <a:endParaRPr kumimoji="1" lang="zh-CN" altLang="en-US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027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DEDC1C7-192E-DD6A-9117-A35BB2BCC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0"/>
            <a:ext cx="9004300" cy="31241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60154DE-747B-FFDE-92A4-262C8657E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50" y="3314655"/>
            <a:ext cx="9010650" cy="312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73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E87E50B-866C-C722-B814-FCC5578E5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252326"/>
              </p:ext>
            </p:extLst>
          </p:nvPr>
        </p:nvGraphicFramePr>
        <p:xfrm>
          <a:off x="2774313" y="4543958"/>
          <a:ext cx="6515099" cy="1122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642">
                  <a:extLst>
                    <a:ext uri="{9D8B030D-6E8A-4147-A177-3AD203B41FA5}">
                      <a16:colId xmlns:a16="http://schemas.microsoft.com/office/drawing/2014/main" val="2569558677"/>
                    </a:ext>
                  </a:extLst>
                </a:gridCol>
                <a:gridCol w="1751659">
                  <a:extLst>
                    <a:ext uri="{9D8B030D-6E8A-4147-A177-3AD203B41FA5}">
                      <a16:colId xmlns:a16="http://schemas.microsoft.com/office/drawing/2014/main" val="3125625566"/>
                    </a:ext>
                  </a:extLst>
                </a:gridCol>
                <a:gridCol w="1000948">
                  <a:extLst>
                    <a:ext uri="{9D8B030D-6E8A-4147-A177-3AD203B41FA5}">
                      <a16:colId xmlns:a16="http://schemas.microsoft.com/office/drawing/2014/main" val="3489800992"/>
                    </a:ext>
                  </a:extLst>
                </a:gridCol>
                <a:gridCol w="1429925">
                  <a:extLst>
                    <a:ext uri="{9D8B030D-6E8A-4147-A177-3AD203B41FA5}">
                      <a16:colId xmlns:a16="http://schemas.microsoft.com/office/drawing/2014/main" val="1805364633"/>
                    </a:ext>
                  </a:extLst>
                </a:gridCol>
                <a:gridCol w="1429925">
                  <a:extLst>
                    <a:ext uri="{9D8B030D-6E8A-4147-A177-3AD203B41FA5}">
                      <a16:colId xmlns:a16="http://schemas.microsoft.com/office/drawing/2014/main" val="2271048523"/>
                    </a:ext>
                  </a:extLst>
                </a:gridCol>
              </a:tblGrid>
              <a:tr h="275286"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Grid 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3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beta*(max |</a:t>
                      </a:r>
                      <a:r>
                        <a:rPr lang="en-US" altLang="zh-CN" sz="1300" b="1" kern="1200" dirty="0" err="1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dPr-allD</a:t>
                      </a:r>
                      <a:r>
                        <a:rPr lang="en-US" altLang="zh-CN" sz="13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|)</a:t>
                      </a:r>
                      <a:endParaRPr lang="zh-CN" altLang="en-US" sz="1300" b="1" kern="1200" dirty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 slope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beta*(max </a:t>
                      </a:r>
                      <a:r>
                        <a:rPr lang="en-US" altLang="zh-CN" sz="1300" b="1" kern="1200" dirty="0" err="1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chiD</a:t>
                      </a:r>
                      <a:r>
                        <a:rPr lang="en-US" altLang="zh-CN" sz="13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1300" b="1" kern="1200" dirty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300" b="1" kern="1200" dirty="0" err="1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chiD</a:t>
                      </a:r>
                      <a:endParaRPr lang="zh-CN" altLang="en-US" sz="1300" b="1" kern="1200" dirty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extLst>
                  <a:ext uri="{0D108BD9-81ED-4DB2-BD59-A6C34878D82A}">
                    <a16:rowId xmlns:a16="http://schemas.microsoft.com/office/drawing/2014/main" val="2555554977"/>
                  </a:ext>
                </a:extLst>
              </a:tr>
              <a:tr h="275286"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10*10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2.75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-0.800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4.5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0.25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extLst>
                  <a:ext uri="{0D108BD9-81ED-4DB2-BD59-A6C34878D82A}">
                    <a16:rowId xmlns:a16="http://schemas.microsoft.com/office/drawing/2014/main" val="3901734677"/>
                  </a:ext>
                </a:extLst>
              </a:tr>
              <a:tr h="275286"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20*20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1.25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-1.133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1.50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0.23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extLst>
                  <a:ext uri="{0D108BD9-81ED-4DB2-BD59-A6C34878D82A}">
                    <a16:rowId xmlns:a16="http://schemas.microsoft.com/office/drawing/2014/main" val="3716399231"/>
                  </a:ext>
                </a:extLst>
              </a:tr>
              <a:tr h="275286"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30*30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0.75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-0.800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0.24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586" marR="82586" marT="41293" marB="41293"/>
                </a:tc>
                <a:extLst>
                  <a:ext uri="{0D108BD9-81ED-4DB2-BD59-A6C34878D82A}">
                    <a16:rowId xmlns:a16="http://schemas.microsoft.com/office/drawing/2014/main" val="511349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7CB7252-0243-8C2F-78AA-7FCC4081CBF1}"/>
              </a:ext>
            </a:extLst>
          </p:cNvPr>
          <p:cNvSpPr txBox="1"/>
          <p:nvPr/>
        </p:nvSpPr>
        <p:spPr>
          <a:xfrm>
            <a:off x="9417687" y="5359340"/>
            <a:ext cx="386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Fluctuation diagnostic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60038AB-31D0-ABEC-BB2A-499522E81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687" y="4749740"/>
            <a:ext cx="2374900" cy="609600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FF10241-2149-A41C-BE89-38A8324A5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370565"/>
              </p:ext>
            </p:extLst>
          </p:nvPr>
        </p:nvGraphicFramePr>
        <p:xfrm>
          <a:off x="2774313" y="5728672"/>
          <a:ext cx="6515098" cy="1129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642">
                  <a:extLst>
                    <a:ext uri="{9D8B030D-6E8A-4147-A177-3AD203B41FA5}">
                      <a16:colId xmlns:a16="http://schemas.microsoft.com/office/drawing/2014/main" val="2569558677"/>
                    </a:ext>
                  </a:extLst>
                </a:gridCol>
                <a:gridCol w="1751659">
                  <a:extLst>
                    <a:ext uri="{9D8B030D-6E8A-4147-A177-3AD203B41FA5}">
                      <a16:colId xmlns:a16="http://schemas.microsoft.com/office/drawing/2014/main" val="3125625566"/>
                    </a:ext>
                  </a:extLst>
                </a:gridCol>
                <a:gridCol w="1000947">
                  <a:extLst>
                    <a:ext uri="{9D8B030D-6E8A-4147-A177-3AD203B41FA5}">
                      <a16:colId xmlns:a16="http://schemas.microsoft.com/office/drawing/2014/main" val="3489800992"/>
                    </a:ext>
                  </a:extLst>
                </a:gridCol>
                <a:gridCol w="1429925">
                  <a:extLst>
                    <a:ext uri="{9D8B030D-6E8A-4147-A177-3AD203B41FA5}">
                      <a16:colId xmlns:a16="http://schemas.microsoft.com/office/drawing/2014/main" val="1805364633"/>
                    </a:ext>
                  </a:extLst>
                </a:gridCol>
                <a:gridCol w="1429925">
                  <a:extLst>
                    <a:ext uri="{9D8B030D-6E8A-4147-A177-3AD203B41FA5}">
                      <a16:colId xmlns:a16="http://schemas.microsoft.com/office/drawing/2014/main" val="2271048523"/>
                    </a:ext>
                  </a:extLst>
                </a:gridCol>
              </a:tblGrid>
              <a:tr h="280706"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WS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3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beta*(max |</a:t>
                      </a:r>
                      <a:r>
                        <a:rPr lang="en-US" altLang="zh-CN" sz="1300" b="1" kern="1200" dirty="0" err="1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dPr-allD</a:t>
                      </a:r>
                      <a:r>
                        <a:rPr lang="en-US" altLang="zh-CN" sz="13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|)</a:t>
                      </a:r>
                      <a:endParaRPr lang="zh-CN" altLang="en-US" sz="1300" b="1" kern="1200" dirty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 slope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beta*(max </a:t>
                      </a:r>
                      <a:r>
                        <a:rPr lang="en-US" altLang="zh-CN" sz="1300" b="1" kern="1200" dirty="0" err="1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chiD</a:t>
                      </a:r>
                      <a:r>
                        <a:rPr lang="en-US" altLang="zh-CN" sz="13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1300" b="1" kern="1200" dirty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300" b="1" kern="1200" dirty="0" err="1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chiD</a:t>
                      </a:r>
                      <a:endParaRPr lang="zh-CN" altLang="en-US" sz="1300" b="1" kern="1200" dirty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extLst>
                  <a:ext uri="{0D108BD9-81ED-4DB2-BD59-A6C34878D82A}">
                    <a16:rowId xmlns:a16="http://schemas.microsoft.com/office/drawing/2014/main" val="2555554977"/>
                  </a:ext>
                </a:extLst>
              </a:tr>
              <a:tr h="280706"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N=100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2.75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-0.600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4.00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0.25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extLst>
                  <a:ext uri="{0D108BD9-81ED-4DB2-BD59-A6C34878D82A}">
                    <a16:rowId xmlns:a16="http://schemas.microsoft.com/office/drawing/2014/main" val="3901734677"/>
                  </a:ext>
                </a:extLst>
              </a:tr>
              <a:tr h="280706"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N=400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0.75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-1.000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0.25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extLst>
                  <a:ext uri="{0D108BD9-81ED-4DB2-BD59-A6C34878D82A}">
                    <a16:rowId xmlns:a16="http://schemas.microsoft.com/office/drawing/2014/main" val="3716399231"/>
                  </a:ext>
                </a:extLst>
              </a:tr>
              <a:tr h="280706"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N=900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0.75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-1.600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0.16</a:t>
                      </a:r>
                      <a:endParaRPr lang="zh-CN" altLang="en-US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212" marR="84212" marT="42106" marB="42106"/>
                </a:tc>
                <a:extLst>
                  <a:ext uri="{0D108BD9-81ED-4DB2-BD59-A6C34878D82A}">
                    <a16:rowId xmlns:a16="http://schemas.microsoft.com/office/drawing/2014/main" val="5113492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C7A5CD26-1B2C-508D-6EC6-4B585CBB90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713"/>
          <a:stretch/>
        </p:blipFill>
        <p:spPr>
          <a:xfrm>
            <a:off x="2558411" y="1483191"/>
            <a:ext cx="6731000" cy="150629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CC29814-0699-7782-D301-B7FA227AA569}"/>
              </a:ext>
            </a:extLst>
          </p:cNvPr>
          <p:cNvSpPr txBox="1"/>
          <p:nvPr/>
        </p:nvSpPr>
        <p:spPr>
          <a:xfrm>
            <a:off x="254000" y="119179"/>
            <a:ext cx="116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Imitation</a:t>
            </a:r>
            <a:endParaRPr kumimoji="1" lang="zh-CN" altLang="en-US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CCB507A-624B-7E28-6BFE-CDF67415256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6713"/>
          <a:stretch/>
        </p:blipFill>
        <p:spPr>
          <a:xfrm>
            <a:off x="2558411" y="1032"/>
            <a:ext cx="6731000" cy="150629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05AFC6C-EAC2-59FD-B95D-98CBF55D99C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2846"/>
          <a:stretch/>
        </p:blipFill>
        <p:spPr>
          <a:xfrm>
            <a:off x="2558411" y="2933889"/>
            <a:ext cx="6731000" cy="157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64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490</Words>
  <Application>Microsoft Macintosh PowerPoint</Application>
  <PresentationFormat>宽屏</PresentationFormat>
  <Paragraphs>71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Arial</vt:lpstr>
      <vt:lpstr>Calibri</vt:lpstr>
      <vt:lpstr>Georgia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Zheng Xia</dc:creator>
  <cp:lastModifiedBy>Zheng Xia</cp:lastModifiedBy>
  <cp:revision>9</cp:revision>
  <dcterms:created xsi:type="dcterms:W3CDTF">2026-01-27T11:50:10Z</dcterms:created>
  <dcterms:modified xsi:type="dcterms:W3CDTF">2026-01-28T11:05:14Z</dcterms:modified>
</cp:coreProperties>
</file>