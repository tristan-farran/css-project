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FAD6B-F991-8030-409E-0FF1EE2C5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DDCF87-7F86-1769-9E45-C99EB5841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4B1639-0AC2-289C-80E7-826FC0FB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D7EDEB-2E00-DF5D-4D21-83C495DB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F20112-25F0-8D7A-6FF9-15CCB415B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160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7BC5B-9C5E-C1CA-0B8D-17A1F7D2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0810F3-DB95-FAA9-78EA-8C4F0CD6E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9D945-6EA3-030A-CAE7-8CEB7FB6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809A9-0E49-3CCE-1694-C315B51C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3D800-BCF2-192A-E6A3-C515E8BB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505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30D15-AFE4-D157-856C-BFA08AFD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791E0-BE30-4A12-78B6-6B1CF2681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4AAAA-9698-FE00-AD88-2D53C12AD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29E491-7702-CB3E-8FA0-8E4B0488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D2B87-876C-2020-1640-B361D06D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235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73313-1E64-0830-69EB-10F34E90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BC83A-6DA6-F68F-63C2-A533C01F0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D7FA00-E031-6FDD-DE15-EA70AEE7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3BE30E-9261-F183-A0D9-A1AC7801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B877D2-69B8-86C1-5109-C2C13216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56C5A1-4EA8-19ED-AF6C-836A2B00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3624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A91C6-AE0B-9AAF-FFE4-1132A6174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D9072C-2C9C-75E6-EEC7-D36D69462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CA997E-8E78-B7AB-CAAC-E1A6183B9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3AB3A8-03E0-4A17-FEC8-E7FA4E324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DDA0A6-7568-5931-CA9B-7E59D22138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F04822-C75B-18ED-4B11-FC1F29603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2CB66E3-8C42-D81B-0E6D-AEF06BF4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DB8D18-D60B-FCAD-7317-882580B9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3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1AC94-963F-C56C-4064-C456DE93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3A7400-76BF-D134-671A-3DA75EAA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E6141C-A737-4FCE-F46E-DF2B7699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3750DC-C83B-4327-3890-15E1DEDC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298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07786B-707A-E5C0-A41D-24A5ECCC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D9E98E-5611-F7E4-0440-184CFA8ED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00857F-D4E6-E7B9-8FB4-0C2713D2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192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43D6B-4B12-A979-2D03-D7B6E336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DF9BC5-0188-CE67-8E55-E8A7E9B9C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03DAE2-A0F7-C388-F11C-D5075A0D0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FCDE5A-A455-650F-F83B-62C17126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57D4C7-D7DC-DDB9-E2D6-DDCC01B8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700DE-51BE-DD49-6298-FDFCE7FB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70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E0928-39BF-B096-22AA-465469E8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08F6D4-DEF9-416C-07CA-3DA24846B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7EA3DE-3B54-F010-4A76-DC4E673D4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9163E-82F4-FA1C-3AF2-B1BE3E9E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4F1B17-5D05-AF89-C6EA-4A4D83B8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4C9EC7-8B99-83DB-0BBC-D7C270B3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287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97217-7BB4-756B-1606-94ED1D46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DEC482-0BAC-0C09-5864-0D7D2DE86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16FF91-8F24-E663-B25F-4AC0CE36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49123-0AA8-867E-7C9F-2E849D7E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2A7FA-9E82-7318-6B6B-3337590A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793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4732B8-5CB0-3BE6-36C5-9548DA27D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9B45EC-764A-B73E-268A-1FBB74C69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460DD-24A5-7224-7B6E-4AE839D0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A9ECB-C7FB-4954-36F2-9AC4EDB6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71EF62-3A4C-A345-8F2A-8538498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567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093E52-8076-CC87-8535-C639939A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181B19-595F-8589-F275-D51B39EC9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3F052A-E311-FA50-6D1E-F5E56EAE8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473FF-2D7C-2F45-A507-D2201836A64B}" type="datetimeFigureOut">
              <a:rPr kumimoji="1" lang="zh-CN" altLang="en-US" smtClean="0"/>
              <a:t>2026/1/26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2DFE0-DB4C-168D-0194-A33F697EC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72F0E-54CB-A2E1-1BEA-96B9A6F56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1279B-485E-FA47-8883-1AB043005C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150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005D838-6664-8F71-B7FC-69E7C096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2" y="558476"/>
            <a:ext cx="8469922" cy="13715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3DF0C36-DF7F-0785-A8CA-41316B923ED0}"/>
              </a:ext>
            </a:extLst>
          </p:cNvPr>
          <p:cNvSpPr txBox="1"/>
          <p:nvPr/>
        </p:nvSpPr>
        <p:spPr>
          <a:xfrm>
            <a:off x="501162" y="189144"/>
            <a:ext cx="271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Payoff Matric</a:t>
            </a:r>
            <a:endParaRPr kumimoji="1"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C4CCA6-74F4-4B6F-70B7-DBB4538A58F2}"/>
              </a:ext>
            </a:extLst>
          </p:cNvPr>
          <p:cNvSpPr txBox="1"/>
          <p:nvPr/>
        </p:nvSpPr>
        <p:spPr>
          <a:xfrm>
            <a:off x="501162" y="2132363"/>
            <a:ext cx="2719754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Strategy: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Imitation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Tit for tat</a:t>
            </a:r>
            <a:endParaRPr kumimoji="1"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AB501C-AE75-ABEC-81FC-06CFC8FEE87D}"/>
              </a:ext>
            </a:extLst>
          </p:cNvPr>
          <p:cNvSpPr txBox="1"/>
          <p:nvPr/>
        </p:nvSpPr>
        <p:spPr>
          <a:xfrm>
            <a:off x="4736123" y="1924613"/>
            <a:ext cx="2719754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Network: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ER random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WS small-world</a:t>
            </a:r>
            <a:endParaRPr kumimoji="1"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82FB84-FBA8-102C-1F98-9277D053DCF1}"/>
              </a:ext>
            </a:extLst>
          </p:cNvPr>
          <p:cNvSpPr txBox="1"/>
          <p:nvPr/>
        </p:nvSpPr>
        <p:spPr>
          <a:xfrm>
            <a:off x="501162" y="4198437"/>
            <a:ext cx="3941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Persistence/ collapse measurement: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Pr_allD</a:t>
            </a:r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Pr_allC</a:t>
            </a:r>
            <a:endParaRPr kumimoji="1" lang="en-US" altLang="zh-CN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mean_t_absorb</a:t>
            </a:r>
            <a:endParaRPr kumimoji="1" lang="en-US" altLang="zh-CN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mean_barC</a:t>
            </a:r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zh-CN" alt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24FA01-F44C-8F93-839C-3B431C983CE7}"/>
              </a:ext>
            </a:extLst>
          </p:cNvPr>
          <p:cNvSpPr txBox="1"/>
          <p:nvPr/>
        </p:nvSpPr>
        <p:spPr>
          <a:xfrm>
            <a:off x="4736123" y="4198437"/>
            <a:ext cx="7596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Cluster/percolation quantities: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mean_Smax</a:t>
            </a:r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sz="1500" dirty="0">
                <a:latin typeface="Calibri" panose="020F0502020204030204" pitchFamily="34" charset="0"/>
                <a:cs typeface="Calibri" panose="020F0502020204030204" pitchFamily="34" charset="0"/>
              </a:rPr>
              <a:t>average largest cooperative cluster fraction (largest CC size / N)</a:t>
            </a:r>
            <a:endParaRPr kumimoji="1" lang="en-US" altLang="zh-CN" sz="15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b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mean_chi</a:t>
            </a:r>
            <a:r>
              <a:rPr kumimoji="1" lang="en-US" altLang="zh-CN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sz="1500" dirty="0">
                <a:latin typeface="Calibri" panose="020F0502020204030204" pitchFamily="34" charset="0"/>
                <a:cs typeface="Calibri" panose="020F0502020204030204" pitchFamily="34" charset="0"/>
              </a:rPr>
              <a:t>average susceptibility (fluctuations in finite cluster sizes)</a:t>
            </a:r>
          </a:p>
        </p:txBody>
      </p:sp>
    </p:spTree>
    <p:extLst>
      <p:ext uri="{BB962C8B-B14F-4D97-AF65-F5344CB8AC3E}">
        <p14:creationId xmlns:p14="http://schemas.microsoft.com/office/powerpoint/2010/main" val="418186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33945" y="77162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ER_p0.02 + Imitation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483D59-CB8D-3CC3-DB4B-92CF907231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48" r="64002"/>
          <a:stretch/>
        </p:blipFill>
        <p:spPr>
          <a:xfrm>
            <a:off x="1017660" y="473441"/>
            <a:ext cx="4104301" cy="25289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B8E2F0B-B327-BAF8-ECB4-D220F2356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446" y="5171198"/>
            <a:ext cx="8149490" cy="168680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D57C2B1-CC3E-693E-FABB-F14059A5A6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007" r="64153"/>
          <a:stretch/>
        </p:blipFill>
        <p:spPr>
          <a:xfrm>
            <a:off x="5428606" y="313614"/>
            <a:ext cx="4104301" cy="264545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8DEF09-0F36-9363-8FC6-B3B5D11707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298" r="62795"/>
          <a:stretch/>
        </p:blipFill>
        <p:spPr>
          <a:xfrm>
            <a:off x="5539371" y="2711354"/>
            <a:ext cx="3882770" cy="23751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B661817-3D1D-93FD-8AAC-034CB34BC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305" y="2855113"/>
            <a:ext cx="3797656" cy="225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7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ER_p0.02 + TFT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9A7B80-5AFB-CB3D-E8EA-6189D037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728" y="5014836"/>
            <a:ext cx="8235462" cy="14304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07912E-45D7-717D-A49B-0CECE6CDF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80" r="63549"/>
          <a:stretch/>
        </p:blipFill>
        <p:spPr>
          <a:xfrm>
            <a:off x="1009386" y="464614"/>
            <a:ext cx="3934779" cy="24920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8BF047-3B18-B950-2F52-0959A285B4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887" r="63851" b="-1237"/>
          <a:stretch/>
        </p:blipFill>
        <p:spPr>
          <a:xfrm>
            <a:off x="5613584" y="464614"/>
            <a:ext cx="3974777" cy="249208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B433414-8190-221F-82B2-37A96ECA8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932" y="2669429"/>
            <a:ext cx="3783233" cy="224629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74BA3-8A29-44AB-A00B-0834F74C3E3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203" r="63248" b="1717"/>
          <a:stretch/>
        </p:blipFill>
        <p:spPr>
          <a:xfrm>
            <a:off x="5613584" y="2669428"/>
            <a:ext cx="3698292" cy="224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6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Grid 20*20 + Imitation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07912E-45D7-717D-A49B-0CECE6CDF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4080" r="95233" b="-3956"/>
          <a:stretch/>
        </p:blipFill>
        <p:spPr>
          <a:xfrm>
            <a:off x="1009386" y="464614"/>
            <a:ext cx="514614" cy="2606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8BF047-3B18-B950-2F52-0959A285B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87" r="63851" b="-1237"/>
          <a:stretch/>
        </p:blipFill>
        <p:spPr>
          <a:xfrm>
            <a:off x="5613584" y="464614"/>
            <a:ext cx="3974777" cy="24920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74BA3-8A29-44AB-A00B-0834F74C3E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03" r="63248" b="1717"/>
          <a:stretch/>
        </p:blipFill>
        <p:spPr>
          <a:xfrm>
            <a:off x="5613584" y="2824696"/>
            <a:ext cx="3698292" cy="22462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A5E3C0-7228-7906-5DCE-49D9C7DBDE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999" t="17218" r="31724" b="1156"/>
          <a:stretch/>
        </p:blipFill>
        <p:spPr>
          <a:xfrm>
            <a:off x="1500553" y="578401"/>
            <a:ext cx="3305908" cy="2246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8DACF92-750F-3102-4833-3CE8A07C2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384" y="5263005"/>
            <a:ext cx="7772400" cy="15193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D0F038C-91E5-DAD3-04F1-8C2BF6CB22B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5998" t="16934" r="32026"/>
          <a:stretch/>
        </p:blipFill>
        <p:spPr>
          <a:xfrm>
            <a:off x="6096000" y="441323"/>
            <a:ext cx="3570326" cy="24920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4BA7198-A191-8716-27B1-ACD3416CAC1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6752" t="16887" r="32177"/>
          <a:stretch/>
        </p:blipFill>
        <p:spPr>
          <a:xfrm>
            <a:off x="6185251" y="2840437"/>
            <a:ext cx="3200401" cy="23002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0E50B4B-9460-6C3B-F3D6-0BF73EB4D7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693" y="2860432"/>
            <a:ext cx="3576847" cy="21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2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Grid 20*20 + TFT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07912E-45D7-717D-A49B-0CECE6CDF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4080" r="95233" b="-3956"/>
          <a:stretch/>
        </p:blipFill>
        <p:spPr>
          <a:xfrm>
            <a:off x="1009386" y="464614"/>
            <a:ext cx="514614" cy="2606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8BF047-3B18-B950-2F52-0959A285B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87" r="63851" b="-1237"/>
          <a:stretch/>
        </p:blipFill>
        <p:spPr>
          <a:xfrm>
            <a:off x="5613584" y="464614"/>
            <a:ext cx="3974777" cy="24920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74BA3-8A29-44AB-A00B-0834F74C3E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03" r="63248" b="1717"/>
          <a:stretch/>
        </p:blipFill>
        <p:spPr>
          <a:xfrm>
            <a:off x="5613584" y="2777804"/>
            <a:ext cx="3698292" cy="22462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A5E3C0-7228-7906-5DCE-49D9C7DBDE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999" t="17218" r="31724" b="1156"/>
          <a:stretch/>
        </p:blipFill>
        <p:spPr>
          <a:xfrm>
            <a:off x="1500553" y="578401"/>
            <a:ext cx="3305908" cy="224629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7044CAC-EF47-69EE-8D83-A6A5FEEB63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6424" y="5043360"/>
            <a:ext cx="6084277" cy="9878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B4F7843-1D74-AF9A-1A63-C975B86372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9209" y="6042970"/>
            <a:ext cx="6371492" cy="76597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1FC0F24-60C1-8258-E123-062A1C650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847" t="21111" r="32026" b="1983"/>
          <a:stretch/>
        </p:blipFill>
        <p:spPr>
          <a:xfrm>
            <a:off x="6096000" y="576309"/>
            <a:ext cx="3575538" cy="229979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0417A56-188C-BC50-A544-B847021594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204" t="17100" r="31136" b="-10878"/>
          <a:stretch/>
        </p:blipFill>
        <p:spPr>
          <a:xfrm>
            <a:off x="6186791" y="2829212"/>
            <a:ext cx="3192990" cy="254123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CD5FC18-04E8-6156-C545-A7FDB6E0FD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386" y="2740973"/>
            <a:ext cx="3857960" cy="229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7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WS_p0.05 + Imitation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07912E-45D7-717D-A49B-0CECE6CDF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4080" r="95233" b="-3956"/>
          <a:stretch/>
        </p:blipFill>
        <p:spPr>
          <a:xfrm>
            <a:off x="1009386" y="370830"/>
            <a:ext cx="514614" cy="2606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8BF047-3B18-B950-2F52-0959A285B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87" r="63851" b="-1237"/>
          <a:stretch/>
        </p:blipFill>
        <p:spPr>
          <a:xfrm>
            <a:off x="5613584" y="464614"/>
            <a:ext cx="3974777" cy="24920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74BA3-8A29-44AB-A00B-0834F74C3E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03" r="63248" b="1717"/>
          <a:stretch/>
        </p:blipFill>
        <p:spPr>
          <a:xfrm>
            <a:off x="5613584" y="2777804"/>
            <a:ext cx="3698292" cy="2246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03A4F5-9E65-E983-A3E1-17C70F1F7B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085" t="17314" b="-4588"/>
          <a:stretch/>
        </p:blipFill>
        <p:spPr>
          <a:xfrm>
            <a:off x="1500553" y="477720"/>
            <a:ext cx="3305907" cy="24290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C7715C-C8C1-61DB-73EE-34BA4F06BC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8419" t="14642"/>
          <a:stretch/>
        </p:blipFill>
        <p:spPr>
          <a:xfrm>
            <a:off x="6096000" y="370830"/>
            <a:ext cx="3543363" cy="25733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8645963-FA3E-8E4F-87FD-36BCA53FF69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8426" t="13519"/>
          <a:stretch/>
        </p:blipFill>
        <p:spPr>
          <a:xfrm>
            <a:off x="6177099" y="2766081"/>
            <a:ext cx="3076162" cy="22639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6B95281-0EEC-AD67-5796-A0CE28B3F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954" y="5056334"/>
            <a:ext cx="8612838" cy="133705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11475E8-4D36-91A4-1DA4-1365E42E4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7525" y="2777804"/>
            <a:ext cx="3568935" cy="211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81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96D270-3791-2BDD-DCD2-894CB44CA57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WS_p0.05 + TFT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07912E-45D7-717D-A49B-0CECE6CDF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14080" r="95233" b="-3956"/>
          <a:stretch/>
        </p:blipFill>
        <p:spPr>
          <a:xfrm>
            <a:off x="1009386" y="370830"/>
            <a:ext cx="514614" cy="2606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88BF047-3B18-B950-2F52-0959A285B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87" r="63851" b="-1237"/>
          <a:stretch/>
        </p:blipFill>
        <p:spPr>
          <a:xfrm>
            <a:off x="5613584" y="464614"/>
            <a:ext cx="3974777" cy="24920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774BA3-8A29-44AB-A00B-0834F74C3E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03" r="63248" b="1717"/>
          <a:stretch/>
        </p:blipFill>
        <p:spPr>
          <a:xfrm>
            <a:off x="5613584" y="2777804"/>
            <a:ext cx="3698292" cy="2246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A03A4F5-9E65-E983-A3E1-17C70F1F7B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085" t="17314" b="-4588"/>
          <a:stretch/>
        </p:blipFill>
        <p:spPr>
          <a:xfrm>
            <a:off x="1500553" y="477720"/>
            <a:ext cx="3305907" cy="24290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C938DCD-9371-A64A-D8E5-FE2629709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693" y="2822182"/>
            <a:ext cx="3686503" cy="22462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EEDB5CE-8F48-AC06-56DD-47D03809F8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7384" y="5035822"/>
            <a:ext cx="7772400" cy="17550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5C15CE-D666-C562-6D97-267F33463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806" t="17187"/>
          <a:stretch/>
        </p:blipFill>
        <p:spPr>
          <a:xfrm>
            <a:off x="1490885" y="477719"/>
            <a:ext cx="3427142" cy="236874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51D6819-0E40-DAC1-5D57-166C4342C9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06" t="19133" b="-3335"/>
          <a:stretch/>
        </p:blipFill>
        <p:spPr>
          <a:xfrm>
            <a:off x="6107723" y="524611"/>
            <a:ext cx="3563815" cy="250450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78E08B9-EB5D-0BDC-0CE5-81AF28648D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276" t="14890" b="-7561"/>
          <a:stretch/>
        </p:blipFill>
        <p:spPr>
          <a:xfrm>
            <a:off x="6168082" y="2789528"/>
            <a:ext cx="3132072" cy="2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7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9794174-FC9A-201D-7DDE-9A2D8F8C42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94"/>
          <a:stretch/>
        </p:blipFill>
        <p:spPr>
          <a:xfrm>
            <a:off x="1241711" y="1345375"/>
            <a:ext cx="9708577" cy="22007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B9946F-A095-C042-D90C-7D4D844CA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58" y="4126622"/>
            <a:ext cx="6676482" cy="109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94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1A159BD-83DD-1A9A-1C09-7B832E4D0B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58"/>
          <a:stretch/>
        </p:blipFill>
        <p:spPr>
          <a:xfrm>
            <a:off x="1271237" y="0"/>
            <a:ext cx="10114156" cy="17435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AE57A7-A601-26C7-FF1F-C7D1AD4B63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58"/>
          <a:stretch/>
        </p:blipFill>
        <p:spPr>
          <a:xfrm>
            <a:off x="1271237" y="1685493"/>
            <a:ext cx="10114156" cy="17435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69266F-970F-2556-FB56-B5582E78D5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858"/>
          <a:stretch/>
        </p:blipFill>
        <p:spPr>
          <a:xfrm>
            <a:off x="1271237" y="3429000"/>
            <a:ext cx="10114156" cy="17435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81EE3BB-2364-2E8A-9CFA-F3A8FBBFD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874" y="5172507"/>
            <a:ext cx="6430251" cy="16520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F7D9F8F-FEC7-403E-DCEF-5E530D50A1A4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Imitation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192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3104B3-0DAF-5A82-3C25-405ECA7DE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786" y="0"/>
            <a:ext cx="4223834" cy="25079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C65430-5935-C69B-8FE5-05BE86DA8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059" y="0"/>
            <a:ext cx="4223834" cy="25079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A93303-C8CF-C2C0-A89E-4489156EA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786" y="2507901"/>
            <a:ext cx="4356100" cy="26543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9CE0FB-3B68-DB85-21D3-F016DE7F7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059" y="2507901"/>
            <a:ext cx="4470400" cy="26543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6CFE9F4-0004-F57C-32AF-97F12BFF5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264" y="5336197"/>
            <a:ext cx="7772400" cy="8914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E2A9BB0-71A1-9CC2-A40A-9634FD6B7C39}"/>
              </a:ext>
            </a:extLst>
          </p:cNvPr>
          <p:cNvSpPr txBox="1"/>
          <p:nvPr/>
        </p:nvSpPr>
        <p:spPr>
          <a:xfrm>
            <a:off x="0" y="75657"/>
            <a:ext cx="3305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Imitation</a:t>
            </a:r>
            <a:endParaRPr kumimoji="1" lang="zh-CN" altLang="en-US" sz="2000" b="1" dirty="0">
              <a:solidFill>
                <a:srgbClr val="0070C0"/>
              </a:solidFill>
            </a:endParaRPr>
          </a:p>
          <a:p>
            <a:endParaRPr kumimoji="1" lang="zh-CN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96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E2A9BB0-71A1-9CC2-A40A-9634FD6B7C39}"/>
              </a:ext>
            </a:extLst>
          </p:cNvPr>
          <p:cNvSpPr txBox="1"/>
          <p:nvPr/>
        </p:nvSpPr>
        <p:spPr>
          <a:xfrm>
            <a:off x="0" y="75657"/>
            <a:ext cx="330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TFT</a:t>
            </a:r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3A1986-2520-9A00-D8F4-0CE1761E1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1"/>
          <a:stretch/>
        </p:blipFill>
        <p:spPr>
          <a:xfrm>
            <a:off x="637477" y="275712"/>
            <a:ext cx="11113931" cy="18293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0203214-4051-FA5B-E300-F406B150EB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343"/>
          <a:stretch/>
        </p:blipFill>
        <p:spPr>
          <a:xfrm>
            <a:off x="637477" y="2105033"/>
            <a:ext cx="11113930" cy="189161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6F1A01-F9B7-B61E-129F-F4E1C9FC27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142"/>
          <a:stretch/>
        </p:blipFill>
        <p:spPr>
          <a:xfrm>
            <a:off x="637476" y="3934354"/>
            <a:ext cx="11113930" cy="187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5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3E2A9BB0-71A1-9CC2-A40A-9634FD6B7C39}"/>
              </a:ext>
            </a:extLst>
          </p:cNvPr>
          <p:cNvSpPr txBox="1"/>
          <p:nvPr/>
        </p:nvSpPr>
        <p:spPr>
          <a:xfrm>
            <a:off x="0" y="75657"/>
            <a:ext cx="330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070C0"/>
                </a:solidFill>
              </a:rPr>
              <a:t>TFT</a:t>
            </a:r>
            <a:endParaRPr kumimoji="1" lang="zh-CN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201762-0E07-2A37-2D1B-4BC8A284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67" y="0"/>
            <a:ext cx="4000354" cy="23752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5AFC64-1E63-AED4-02E1-67ECCA0C9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858" y="0"/>
            <a:ext cx="4000354" cy="237521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5E686C9-5A9D-6F3A-F23E-EABA05F8B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67" y="2754264"/>
            <a:ext cx="4000354" cy="23752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5C8F7F1-5694-F02E-F67D-5BC5E8571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608" y="2801717"/>
            <a:ext cx="4000354" cy="237521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EA8099B-D1DC-8B01-3810-279A67F86401}"/>
              </a:ext>
            </a:extLst>
          </p:cNvPr>
          <p:cNvSpPr txBox="1"/>
          <p:nvPr/>
        </p:nvSpPr>
        <p:spPr>
          <a:xfrm>
            <a:off x="1165938" y="2278497"/>
            <a:ext cx="4154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</a:rPr>
              <a:t>cooperators form a </a:t>
            </a:r>
            <a:r>
              <a:rPr lang="en-US" altLang="zh-CN" sz="1400" b="1" dirty="0">
                <a:solidFill>
                  <a:srgbClr val="C00000"/>
                </a:solidFill>
              </a:rPr>
              <a:t>giant connected component</a:t>
            </a:r>
            <a:r>
              <a:rPr lang="en-US" altLang="zh-CN" sz="1400" dirty="0">
                <a:solidFill>
                  <a:srgbClr val="C00000"/>
                </a:solidFill>
              </a:rPr>
              <a:t> in the random network.</a:t>
            </a:r>
            <a:endParaRPr kumimoji="1" lang="zh-CN" altLang="en-US" sz="1400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B50742-68C1-095B-FF58-A66CDE94FCD2}"/>
              </a:ext>
            </a:extLst>
          </p:cNvPr>
          <p:cNvSpPr txBox="1"/>
          <p:nvPr/>
        </p:nvSpPr>
        <p:spPr>
          <a:xfrm>
            <a:off x="5856607" y="2278497"/>
            <a:ext cx="4326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C00000"/>
                </a:solidFill>
              </a:defRPr>
            </a:lvl1pPr>
          </a:lstStyle>
          <a:p>
            <a:r>
              <a:rPr lang="en-US" altLang="zh-CN" dirty="0"/>
              <a:t>cooperation exists but is </a:t>
            </a:r>
            <a:r>
              <a:rPr lang="en-US" altLang="zh-CN" b="1" dirty="0"/>
              <a:t>extremely fragmented</a:t>
            </a:r>
            <a:r>
              <a:rPr lang="en-US" altLang="zh-CN" dirty="0"/>
              <a:t> (largest C cluster ≈ single node).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CF906A-5804-CD13-8E35-A6B16B6197C3}"/>
              </a:ext>
            </a:extLst>
          </p:cNvPr>
          <p:cNvSpPr txBox="1"/>
          <p:nvPr/>
        </p:nvSpPr>
        <p:spPr>
          <a:xfrm>
            <a:off x="2701562" y="4975585"/>
            <a:ext cx="6788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C00000"/>
                </a:solidFill>
              </a:defRPr>
            </a:lvl1pPr>
          </a:lstStyle>
          <a:p>
            <a:r>
              <a:rPr lang="en-US" altLang="zh-CN" b="1" dirty="0" err="1"/>
              <a:t>bistability</a:t>
            </a:r>
            <a:r>
              <a:rPr lang="en-US" altLang="zh-CN" dirty="0"/>
              <a:t> (both </a:t>
            </a:r>
            <a:r>
              <a:rPr lang="en-US" altLang="zh-CN" dirty="0" err="1"/>
              <a:t>allC</a:t>
            </a:r>
            <a:r>
              <a:rPr lang="en-US" altLang="zh-CN" dirty="0"/>
              <a:t> and </a:t>
            </a:r>
            <a:r>
              <a:rPr lang="en-US" altLang="zh-CN" dirty="0" err="1"/>
              <a:t>allD</a:t>
            </a:r>
            <a:r>
              <a:rPr lang="en-US" altLang="zh-CN" dirty="0"/>
              <a:t> occur fairly often) and </a:t>
            </a:r>
            <a:r>
              <a:rPr lang="en-US" altLang="zh-CN" b="1" dirty="0"/>
              <a:t>cluster spikes.</a:t>
            </a:r>
            <a:endParaRPr lang="zh-CN" altLang="en-US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0C95F00-6F54-CC3B-1A6B-0960C35AE1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05" y="5630677"/>
            <a:ext cx="9727906" cy="109519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ADE73A1-2B4E-E00D-80A7-F18897631B5B}"/>
              </a:ext>
            </a:extLst>
          </p:cNvPr>
          <p:cNvSpPr txBox="1"/>
          <p:nvPr/>
        </p:nvSpPr>
        <p:spPr>
          <a:xfrm>
            <a:off x="1577310" y="5226187"/>
            <a:ext cx="941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solidFill>
                  <a:srgbClr val="C00000"/>
                </a:solidFill>
              </a:defRPr>
            </a:lvl1pPr>
          </a:lstStyle>
          <a:p>
            <a:r>
              <a:rPr lang="en-US" altLang="zh-CN" dirty="0"/>
              <a:t>the signature of a transition region: small parameter changes flip which absorbing basin wins.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020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156</Words>
  <Application>Microsoft Macintosh PowerPoint</Application>
  <PresentationFormat>宽屏</PresentationFormat>
  <Paragraphs>29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Xia</dc:creator>
  <cp:lastModifiedBy>Zheng Xia</cp:lastModifiedBy>
  <cp:revision>6</cp:revision>
  <dcterms:created xsi:type="dcterms:W3CDTF">2026-01-25T16:14:43Z</dcterms:created>
  <dcterms:modified xsi:type="dcterms:W3CDTF">2026-01-26T11:18:23Z</dcterms:modified>
</cp:coreProperties>
</file>