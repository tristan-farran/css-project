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28"/>
  </p:normalViewPr>
  <p:slideViewPr>
    <p:cSldViewPr snapToGrid="0">
      <p:cViewPr varScale="1">
        <p:scale>
          <a:sx n="115" d="100"/>
          <a:sy n="115" d="100"/>
        </p:scale>
        <p:origin x="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EFAD6B-F991-8030-409E-0FF1EE2C5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FDDCF87-7F86-1769-9E45-C99EB5841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4B1639-0AC2-289C-80E7-826FC0FB7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CD7EDEB-2E00-DF5D-4D21-83C495DBD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F20112-25F0-8D7A-6FF9-15CCB415B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1602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67BC5B-9C5E-C1CA-0B8D-17A1F7D2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0810F3-DB95-FAA9-78EA-8C4F0CD6E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19D945-6EA3-030A-CAE7-8CEB7FB65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7809A9-0E49-3CCE-1694-C315B51CA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D3D800-BCF2-192A-E6A3-C515E8BB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75050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630D15-AFE4-D157-856C-BFA08AFD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5791E0-BE30-4A12-78B6-6B1CF2681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4AAAA-9698-FE00-AD88-2D53C12AD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29E491-7702-CB3E-8FA0-8E4B04888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8D2B87-876C-2020-1640-B361D06DE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62357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73313-1E64-0830-69EB-10F34E906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DBC83A-6DA6-F68F-63C2-A533C01F02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D7FA00-E031-6FDD-DE15-EA70AEE7E8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B3BE30E-9261-F183-A0D9-A1AC7801D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B877D2-69B8-86C1-5109-C2C13216F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56C5A1-4EA8-19ED-AF6C-836A2B009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36241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91C6-AE0B-9AAF-FFE4-1132A6174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7D9072C-2C9C-75E6-EEC7-D36D69462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CA997E-8E78-B7AB-CAAC-E1A6183B98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13AB3A8-03E0-4A17-FEC8-E7FA4E324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2DDA0A6-7568-5931-CA9B-7E59D22138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3F04822-C75B-18ED-4B11-FC1F29603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2CB66E3-8C42-D81B-0E6D-AEF06BF49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2DB8D18-D60B-FCAD-7317-882580B90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0345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D1AC94-963F-C56C-4064-C456DE932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53A7400-76BF-D134-671A-3DA75EAAB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EE6141C-A737-4FCE-F46E-DF2B7699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3750DC-C83B-4327-3890-15E1DEDCA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72987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707786B-707A-E5C0-A41D-24A5ECCCB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8D9E98E-5611-F7E4-0440-184CFA8ED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00857F-D4E6-E7B9-8FB4-0C2713D2C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71920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643D6B-4B12-A979-2D03-D7B6E3366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DF9BC5-0188-CE67-8E55-E8A7E9B9C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F03DAE2-A0F7-C388-F11C-D5075A0D0C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8FCDE5A-A455-650F-F83B-62C171265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7D4C7-D7DC-DDB9-E2D6-DDCC01B88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D6700DE-51BE-DD49-6298-FDFCE7FB1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7705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9E0928-39BF-B096-22AA-465469E87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A08F6D4-DEF9-416C-07CA-3DA24846B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7EA3DE-3B54-F010-4A76-DC4E673D48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99163E-82F4-FA1C-3AF2-B1BE3E9EE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54F1B17-5D05-AF89-C6EA-4A4D83B82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4C9EC7-8B99-83DB-0BBC-D7C270B3E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12871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397217-7BB4-756B-1606-94ED1D464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DEC482-0BAC-0C09-5864-0D7D2DE865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6FF91-8F24-E663-B25F-4AC0CE364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749123-0AA8-867E-7C9F-2E849D7EB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C2A7FA-9E82-7318-6B6B-3337590A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7936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94732B8-5CB0-3BE6-36C5-9548DA27D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9B45EC-764A-B73E-268A-1FBB74C69C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12460DD-24A5-7224-7B6E-4AE839D07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7A9ECB-C7FB-4954-36F2-9AC4EDB6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71EF62-3A4C-A345-8F2A-8538498F1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5567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C093E52-8076-CC87-8535-C639939A0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181B19-595F-8589-F275-D51B39EC94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3F052A-E311-FA50-6D1E-F5E56EAE8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1473FF-2D7C-2F45-A507-D2201836A64B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D2DFE0-DB4C-168D-0194-A33F697EC4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E72F0E-54CB-A2E1-1BEA-96B9A6F560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D1279B-485E-FA47-8883-1AB043005CB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91507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9.png"/><Relationship Id="rId7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9.png"/><Relationship Id="rId7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11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005D838-6664-8F71-B7FC-69E7C0967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62" y="558476"/>
            <a:ext cx="8469922" cy="137154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3DF0C36-DF7F-0785-A8CA-41316B923ED0}"/>
              </a:ext>
            </a:extLst>
          </p:cNvPr>
          <p:cNvSpPr txBox="1"/>
          <p:nvPr/>
        </p:nvSpPr>
        <p:spPr>
          <a:xfrm>
            <a:off x="501162" y="189144"/>
            <a:ext cx="2719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Payoff Matric</a:t>
            </a:r>
            <a:endParaRPr kumimoji="1" lang="zh-CN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FC4CCA6-74F4-4B6F-70B7-DBB4538A58F2}"/>
              </a:ext>
            </a:extLst>
          </p:cNvPr>
          <p:cNvSpPr txBox="1"/>
          <p:nvPr/>
        </p:nvSpPr>
        <p:spPr>
          <a:xfrm>
            <a:off x="501162" y="2132363"/>
            <a:ext cx="2719754" cy="1296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Strategy: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Imitation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Tit for tat</a:t>
            </a:r>
            <a:endParaRPr kumimoji="1" lang="zh-CN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CAB501C-AE75-ABEC-81FC-06CFC8FEE87D}"/>
              </a:ext>
            </a:extLst>
          </p:cNvPr>
          <p:cNvSpPr txBox="1"/>
          <p:nvPr/>
        </p:nvSpPr>
        <p:spPr>
          <a:xfrm>
            <a:off x="4736123" y="1924613"/>
            <a:ext cx="2719754" cy="1712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Network: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Grid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ER random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WS small-world</a:t>
            </a:r>
            <a:endParaRPr kumimoji="1" lang="zh-CN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82FB84-FBA8-102C-1F98-9277D053DCF1}"/>
              </a:ext>
            </a:extLst>
          </p:cNvPr>
          <p:cNvSpPr txBox="1"/>
          <p:nvPr/>
        </p:nvSpPr>
        <p:spPr>
          <a:xfrm>
            <a:off x="501162" y="4198437"/>
            <a:ext cx="39418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Persistence/ collapse measurement: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b="1" dirty="0" err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Pr_allD</a:t>
            </a:r>
            <a:r>
              <a:rPr kumimoji="1" lang="en-US" altLang="zh-CN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kumimoji="1" lang="en-US" altLang="zh-CN" b="1" dirty="0" err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Pr_allC</a:t>
            </a:r>
            <a:endParaRPr kumimoji="1" lang="en-US" altLang="zh-CN" b="1" dirty="0">
              <a:solidFill>
                <a:srgbClr val="0070C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b="1" dirty="0" err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mean_t_absorb</a:t>
            </a:r>
            <a:endParaRPr kumimoji="1" lang="en-US" altLang="zh-CN" b="1" dirty="0">
              <a:solidFill>
                <a:srgbClr val="0070C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b="1" dirty="0" err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mean_barC</a:t>
            </a:r>
            <a:r>
              <a:rPr kumimoji="1" lang="en-US" altLang="zh-CN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zh-CN" altLang="en-US" b="1" dirty="0">
              <a:solidFill>
                <a:srgbClr val="0070C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24FA01-F44C-8F93-839C-3B431C983CE7}"/>
              </a:ext>
            </a:extLst>
          </p:cNvPr>
          <p:cNvSpPr txBox="1"/>
          <p:nvPr/>
        </p:nvSpPr>
        <p:spPr>
          <a:xfrm>
            <a:off x="4736123" y="4198437"/>
            <a:ext cx="75965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Cluster/percolation quantities: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b="1" dirty="0" err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mean_Smax</a:t>
            </a:r>
            <a:r>
              <a:rPr kumimoji="1" lang="en-US" altLang="zh-CN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altLang="zh-CN" sz="1500" dirty="0">
                <a:latin typeface="Calibri" panose="020F0502020204030204" pitchFamily="34" charset="0"/>
                <a:cs typeface="Calibri" panose="020F0502020204030204" pitchFamily="34" charset="0"/>
              </a:rPr>
              <a:t>average largest cooperative cluster fraction (largest CC size / N)</a:t>
            </a:r>
            <a:endParaRPr kumimoji="1" lang="en-US" altLang="zh-CN" sz="1500" b="1" dirty="0">
              <a:solidFill>
                <a:srgbClr val="0070C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b="1" dirty="0" err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mean_chi</a:t>
            </a:r>
            <a:r>
              <a:rPr kumimoji="1" lang="en-US" altLang="zh-CN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altLang="zh-CN" sz="1500" dirty="0">
                <a:latin typeface="Calibri" panose="020F0502020204030204" pitchFamily="34" charset="0"/>
                <a:cs typeface="Calibri" panose="020F0502020204030204" pitchFamily="34" charset="0"/>
              </a:rPr>
              <a:t>average susceptibility (fluctuations in finite cluster sizes)</a:t>
            </a:r>
          </a:p>
        </p:txBody>
      </p:sp>
    </p:spTree>
    <p:extLst>
      <p:ext uri="{BB962C8B-B14F-4D97-AF65-F5344CB8AC3E}">
        <p14:creationId xmlns:p14="http://schemas.microsoft.com/office/powerpoint/2010/main" val="4181864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96D270-3791-2BDD-DCD2-894CB44CA579}"/>
              </a:ext>
            </a:extLst>
          </p:cNvPr>
          <p:cNvSpPr txBox="1"/>
          <p:nvPr/>
        </p:nvSpPr>
        <p:spPr>
          <a:xfrm>
            <a:off x="33945" y="77162"/>
            <a:ext cx="3305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ER_p0.02 + Imitation</a:t>
            </a:r>
            <a:endParaRPr kumimoji="1" lang="zh-CN" altLang="en-US" sz="2000" b="1" dirty="0">
              <a:solidFill>
                <a:srgbClr val="0070C0"/>
              </a:solidFill>
            </a:endParaRPr>
          </a:p>
          <a:p>
            <a:endParaRPr kumimoji="1" lang="zh-CN" altLang="en-US" sz="2000" b="1" dirty="0">
              <a:solidFill>
                <a:srgbClr val="0070C0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5483D59-CB8D-3CC3-DB4B-92CF9072315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448" r="64002"/>
          <a:stretch/>
        </p:blipFill>
        <p:spPr>
          <a:xfrm>
            <a:off x="1017660" y="473441"/>
            <a:ext cx="4104301" cy="252894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B8E2F0B-B327-BAF8-ECB4-D220F2356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446" y="5171198"/>
            <a:ext cx="8149490" cy="1686802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ED57C2B1-CC3E-693E-FABB-F14059A5A66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4007" r="64153"/>
          <a:stretch/>
        </p:blipFill>
        <p:spPr>
          <a:xfrm>
            <a:off x="5428606" y="313614"/>
            <a:ext cx="4104301" cy="264545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428DEF09-0F36-9363-8FC6-B3B5D117073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5298" r="62795"/>
          <a:stretch/>
        </p:blipFill>
        <p:spPr>
          <a:xfrm>
            <a:off x="5539371" y="2711354"/>
            <a:ext cx="3882770" cy="237515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7B661817-3D1D-93FD-8AAC-034CB34BCA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305" y="2855113"/>
            <a:ext cx="3797656" cy="2254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875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96D270-3791-2BDD-DCD2-894CB44CA579}"/>
              </a:ext>
            </a:extLst>
          </p:cNvPr>
          <p:cNvSpPr txBox="1"/>
          <p:nvPr/>
        </p:nvSpPr>
        <p:spPr>
          <a:xfrm>
            <a:off x="0" y="75657"/>
            <a:ext cx="3305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ER_p0.02 + TFT</a:t>
            </a:r>
            <a:endParaRPr kumimoji="1" lang="zh-CN" altLang="en-US" sz="2000" b="1" dirty="0">
              <a:solidFill>
                <a:srgbClr val="0070C0"/>
              </a:solidFill>
            </a:endParaRPr>
          </a:p>
          <a:p>
            <a:endParaRPr kumimoji="1" lang="zh-CN" altLang="en-US" sz="2000" b="1" dirty="0">
              <a:solidFill>
                <a:srgbClr val="0070C0"/>
              </a:solidFill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E9A7B80-5AFB-CB3D-E8EA-6189D0374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728" y="5014836"/>
            <a:ext cx="8235462" cy="143042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D07912E-45D7-717D-A49B-0CECE6CDFC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080" r="63549"/>
          <a:stretch/>
        </p:blipFill>
        <p:spPr>
          <a:xfrm>
            <a:off x="1009386" y="464614"/>
            <a:ext cx="3934779" cy="249208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88BF047-3B18-B950-2F52-0959A285B4F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887" r="63851" b="-1237"/>
          <a:stretch/>
        </p:blipFill>
        <p:spPr>
          <a:xfrm>
            <a:off x="5613584" y="464614"/>
            <a:ext cx="3974777" cy="249208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B433414-8190-221F-82B2-37A96ECA8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932" y="2669429"/>
            <a:ext cx="3783233" cy="224629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1774BA3-8A29-44AB-A00B-0834F74C3E3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5203" r="63248" b="1717"/>
          <a:stretch/>
        </p:blipFill>
        <p:spPr>
          <a:xfrm>
            <a:off x="5613584" y="2669428"/>
            <a:ext cx="3698292" cy="2246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963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96D270-3791-2BDD-DCD2-894CB44CA579}"/>
              </a:ext>
            </a:extLst>
          </p:cNvPr>
          <p:cNvSpPr txBox="1"/>
          <p:nvPr/>
        </p:nvSpPr>
        <p:spPr>
          <a:xfrm>
            <a:off x="0" y="75657"/>
            <a:ext cx="3305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Grid 20*20 + Imitation</a:t>
            </a:r>
            <a:endParaRPr kumimoji="1" lang="zh-CN" altLang="en-US" sz="2000" b="1" dirty="0">
              <a:solidFill>
                <a:srgbClr val="0070C0"/>
              </a:solidFill>
            </a:endParaRPr>
          </a:p>
          <a:p>
            <a:endParaRPr kumimoji="1" lang="zh-CN" altLang="en-US" sz="2000" b="1" dirty="0">
              <a:solidFill>
                <a:srgbClr val="0070C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07912E-45D7-717D-A49B-0CECE6CDFC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14080" r="95233" b="-3956"/>
          <a:stretch/>
        </p:blipFill>
        <p:spPr>
          <a:xfrm>
            <a:off x="1009386" y="464614"/>
            <a:ext cx="514614" cy="26068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88BF047-3B18-B950-2F52-0959A285B4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887" r="63851" b="-1237"/>
          <a:stretch/>
        </p:blipFill>
        <p:spPr>
          <a:xfrm>
            <a:off x="5613584" y="464614"/>
            <a:ext cx="3974777" cy="249208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1774BA3-8A29-44AB-A00B-0834F74C3E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203" r="63248" b="1717"/>
          <a:stretch/>
        </p:blipFill>
        <p:spPr>
          <a:xfrm>
            <a:off x="5613584" y="2824696"/>
            <a:ext cx="3698292" cy="224629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FA5E3C0-7228-7906-5DCE-49D9C7DBDE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5999" t="17218" r="31724" b="1156"/>
          <a:stretch/>
        </p:blipFill>
        <p:spPr>
          <a:xfrm>
            <a:off x="1500553" y="578401"/>
            <a:ext cx="3305908" cy="224629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8DACF92-750F-3102-4833-3CE8A07C2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7384" y="5263005"/>
            <a:ext cx="7772400" cy="151933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D0F038C-91E5-DAD3-04F1-8C2BF6CB22B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35998" t="16934" r="32026"/>
          <a:stretch/>
        </p:blipFill>
        <p:spPr>
          <a:xfrm>
            <a:off x="6096000" y="441323"/>
            <a:ext cx="3570326" cy="249208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4BA7198-A191-8716-27B1-ACD3416CAC12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36752" t="16887" r="32177"/>
          <a:stretch/>
        </p:blipFill>
        <p:spPr>
          <a:xfrm>
            <a:off x="6185251" y="2840437"/>
            <a:ext cx="3200401" cy="2300235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DF948441-187B-95A1-4506-53FA5A25A90D}"/>
              </a:ext>
            </a:extLst>
          </p:cNvPr>
          <p:cNvSpPr/>
          <p:nvPr/>
        </p:nvSpPr>
        <p:spPr>
          <a:xfrm>
            <a:off x="6822831" y="464614"/>
            <a:ext cx="281354" cy="4606377"/>
          </a:xfrm>
          <a:prstGeom prst="rect">
            <a:avLst/>
          </a:prstGeom>
          <a:noFill/>
          <a:ln w="349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A0E50B4B-9460-6C3B-F3D6-0BF73EB4D75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693" y="2860432"/>
            <a:ext cx="3576847" cy="212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6269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96D270-3791-2BDD-DCD2-894CB44CA579}"/>
              </a:ext>
            </a:extLst>
          </p:cNvPr>
          <p:cNvSpPr txBox="1"/>
          <p:nvPr/>
        </p:nvSpPr>
        <p:spPr>
          <a:xfrm>
            <a:off x="0" y="75657"/>
            <a:ext cx="3305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Grid 20*20 + TFT</a:t>
            </a:r>
            <a:endParaRPr kumimoji="1" lang="zh-CN" altLang="en-US" sz="2000" b="1" dirty="0">
              <a:solidFill>
                <a:srgbClr val="0070C0"/>
              </a:solidFill>
            </a:endParaRPr>
          </a:p>
          <a:p>
            <a:endParaRPr kumimoji="1" lang="zh-CN" altLang="en-US" sz="2000" b="1" dirty="0">
              <a:solidFill>
                <a:srgbClr val="0070C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07912E-45D7-717D-A49B-0CECE6CDFC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14080" r="95233" b="-3956"/>
          <a:stretch/>
        </p:blipFill>
        <p:spPr>
          <a:xfrm>
            <a:off x="1009386" y="464614"/>
            <a:ext cx="514614" cy="26068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88BF047-3B18-B950-2F52-0959A285B4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887" r="63851" b="-1237"/>
          <a:stretch/>
        </p:blipFill>
        <p:spPr>
          <a:xfrm>
            <a:off x="5613584" y="464614"/>
            <a:ext cx="3974777" cy="249208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1774BA3-8A29-44AB-A00B-0834F74C3E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203" r="63248" b="1717"/>
          <a:stretch/>
        </p:blipFill>
        <p:spPr>
          <a:xfrm>
            <a:off x="5613584" y="2777804"/>
            <a:ext cx="3698292" cy="224629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FA5E3C0-7228-7906-5DCE-49D9C7DBDE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5999" t="17218" r="31724" b="1156"/>
          <a:stretch/>
        </p:blipFill>
        <p:spPr>
          <a:xfrm>
            <a:off x="1500553" y="578401"/>
            <a:ext cx="3305908" cy="224629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67044CAC-EF47-69EE-8D83-A6A5FEEB63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6424" y="5043360"/>
            <a:ext cx="6084277" cy="98788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B4F7843-1D74-AF9A-1A63-C975B86372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9209" y="6042970"/>
            <a:ext cx="6371492" cy="76597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1FC0F24-60C1-8258-E123-062A1C6508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5847" t="21111" r="32026" b="1983"/>
          <a:stretch/>
        </p:blipFill>
        <p:spPr>
          <a:xfrm>
            <a:off x="6096000" y="576309"/>
            <a:ext cx="3575538" cy="2299795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30417A56-188C-BC50-A544-B847021594E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204" t="17100" r="31136" b="-10878"/>
          <a:stretch/>
        </p:blipFill>
        <p:spPr>
          <a:xfrm>
            <a:off x="6186791" y="2829212"/>
            <a:ext cx="3192990" cy="2541237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BCD5FC18-04E8-6156-C545-A7FDB6E0FD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386" y="2740973"/>
            <a:ext cx="3857960" cy="229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070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96D270-3791-2BDD-DCD2-894CB44CA579}"/>
              </a:ext>
            </a:extLst>
          </p:cNvPr>
          <p:cNvSpPr txBox="1"/>
          <p:nvPr/>
        </p:nvSpPr>
        <p:spPr>
          <a:xfrm>
            <a:off x="0" y="75657"/>
            <a:ext cx="3305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WS_p0.05 + Imitation</a:t>
            </a:r>
            <a:endParaRPr kumimoji="1" lang="zh-CN" altLang="en-US" sz="2000" b="1" dirty="0">
              <a:solidFill>
                <a:srgbClr val="0070C0"/>
              </a:solidFill>
            </a:endParaRPr>
          </a:p>
          <a:p>
            <a:endParaRPr kumimoji="1" lang="zh-CN" altLang="en-US" sz="2000" b="1" dirty="0">
              <a:solidFill>
                <a:srgbClr val="0070C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07912E-45D7-717D-A49B-0CECE6CDFC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14080" r="95233" b="-3956"/>
          <a:stretch/>
        </p:blipFill>
        <p:spPr>
          <a:xfrm>
            <a:off x="1009386" y="370830"/>
            <a:ext cx="514614" cy="26068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88BF047-3B18-B950-2F52-0959A285B4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887" r="63851" b="-1237"/>
          <a:stretch/>
        </p:blipFill>
        <p:spPr>
          <a:xfrm>
            <a:off x="5613584" y="464614"/>
            <a:ext cx="3974777" cy="249208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1774BA3-8A29-44AB-A00B-0834F74C3E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203" r="63248" b="1717"/>
          <a:stretch/>
        </p:blipFill>
        <p:spPr>
          <a:xfrm>
            <a:off x="5613584" y="2777804"/>
            <a:ext cx="3698292" cy="224629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A03A4F5-9E65-E983-A3E1-17C70F1F7B4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8085" t="17314" b="-4588"/>
          <a:stretch/>
        </p:blipFill>
        <p:spPr>
          <a:xfrm>
            <a:off x="1500553" y="477720"/>
            <a:ext cx="3305907" cy="242902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9CC7715C-C8C1-61DB-73EE-34BA4F06BCF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8419" t="14642"/>
          <a:stretch/>
        </p:blipFill>
        <p:spPr>
          <a:xfrm>
            <a:off x="6096000" y="370830"/>
            <a:ext cx="3543363" cy="257330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28645963-FA3E-8E4F-87FD-36BCA53FF69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8426" t="13519"/>
          <a:stretch/>
        </p:blipFill>
        <p:spPr>
          <a:xfrm>
            <a:off x="6177099" y="2766081"/>
            <a:ext cx="3076162" cy="2263905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6B95281-0EEC-AD67-5796-A0CE28B3F2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52954" y="5056334"/>
            <a:ext cx="8612838" cy="1337051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A11475E8-4D36-91A4-1DA4-1365E42E46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7525" y="2777804"/>
            <a:ext cx="3568935" cy="211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81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96D270-3791-2BDD-DCD2-894CB44CA579}"/>
              </a:ext>
            </a:extLst>
          </p:cNvPr>
          <p:cNvSpPr txBox="1"/>
          <p:nvPr/>
        </p:nvSpPr>
        <p:spPr>
          <a:xfrm>
            <a:off x="0" y="75657"/>
            <a:ext cx="3305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WS_p0.05 + TFT</a:t>
            </a:r>
            <a:endParaRPr kumimoji="1" lang="zh-CN" altLang="en-US" sz="2000" b="1" dirty="0">
              <a:solidFill>
                <a:srgbClr val="0070C0"/>
              </a:solidFill>
            </a:endParaRPr>
          </a:p>
          <a:p>
            <a:endParaRPr kumimoji="1" lang="zh-CN" altLang="en-US" sz="2000" b="1" dirty="0">
              <a:solidFill>
                <a:srgbClr val="0070C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07912E-45D7-717D-A49B-0CECE6CDFC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14080" r="95233" b="-3956"/>
          <a:stretch/>
        </p:blipFill>
        <p:spPr>
          <a:xfrm>
            <a:off x="1009386" y="370830"/>
            <a:ext cx="514614" cy="26068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88BF047-3B18-B950-2F52-0959A285B4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887" r="63851" b="-1237"/>
          <a:stretch/>
        </p:blipFill>
        <p:spPr>
          <a:xfrm>
            <a:off x="5613584" y="464614"/>
            <a:ext cx="3974777" cy="249208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1774BA3-8A29-44AB-A00B-0834F74C3E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203" r="63248" b="1717"/>
          <a:stretch/>
        </p:blipFill>
        <p:spPr>
          <a:xfrm>
            <a:off x="5613584" y="2777804"/>
            <a:ext cx="3698292" cy="224629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A03A4F5-9E65-E983-A3E1-17C70F1F7B4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8085" t="17314" b="-4588"/>
          <a:stretch/>
        </p:blipFill>
        <p:spPr>
          <a:xfrm>
            <a:off x="1500553" y="477720"/>
            <a:ext cx="3305907" cy="2429028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AC938DCD-9371-A64A-D8E5-FE26297090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693" y="2822182"/>
            <a:ext cx="3686503" cy="224629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EEDB5CE-8F48-AC06-56DD-47D03809F8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27384" y="5035822"/>
            <a:ext cx="7772400" cy="175505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0B5C15CE-D666-C562-6D97-267F33463F4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7806" t="17187"/>
          <a:stretch/>
        </p:blipFill>
        <p:spPr>
          <a:xfrm>
            <a:off x="1490885" y="477719"/>
            <a:ext cx="3427142" cy="236874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51D6819-0E40-DAC1-5D57-166C4342C9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7806" t="19133" b="-3335"/>
          <a:stretch/>
        </p:blipFill>
        <p:spPr>
          <a:xfrm>
            <a:off x="6107723" y="524611"/>
            <a:ext cx="3563815" cy="2504503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178E08B9-EB5D-0BDC-0CE5-81AF28648DB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8276" t="14890" b="-7561"/>
          <a:stretch/>
        </p:blipFill>
        <p:spPr>
          <a:xfrm>
            <a:off x="6168082" y="2789528"/>
            <a:ext cx="3132072" cy="2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370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9794174-FC9A-201D-7DDE-9A2D8F8C42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94"/>
          <a:stretch/>
        </p:blipFill>
        <p:spPr>
          <a:xfrm>
            <a:off x="1241711" y="1345375"/>
            <a:ext cx="9708577" cy="22007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7B9946F-A095-C042-D90C-7D4D844CA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7758" y="4126622"/>
            <a:ext cx="6676482" cy="1095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946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1A159BD-83DD-1A9A-1C09-7B832E4D0B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258"/>
          <a:stretch/>
        </p:blipFill>
        <p:spPr>
          <a:xfrm>
            <a:off x="1271237" y="0"/>
            <a:ext cx="10114156" cy="174350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BAE57A7-A601-26C7-FF1F-C7D1AD4B63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258"/>
          <a:stretch/>
        </p:blipFill>
        <p:spPr>
          <a:xfrm>
            <a:off x="1271237" y="1685493"/>
            <a:ext cx="10114156" cy="174350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369266F-970F-2556-FB56-B5582E78D55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4858"/>
          <a:stretch/>
        </p:blipFill>
        <p:spPr>
          <a:xfrm>
            <a:off x="1271237" y="3429000"/>
            <a:ext cx="10114156" cy="174350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81EE3BB-2364-2E8A-9CFA-F3A8FBBFDB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874" y="5172507"/>
            <a:ext cx="6430251" cy="165204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EF7D9F8F-FEC7-403E-DCEF-5E530D50A1A4}"/>
              </a:ext>
            </a:extLst>
          </p:cNvPr>
          <p:cNvSpPr txBox="1"/>
          <p:nvPr/>
        </p:nvSpPr>
        <p:spPr>
          <a:xfrm>
            <a:off x="0" y="75657"/>
            <a:ext cx="3305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Imitation</a:t>
            </a:r>
            <a:endParaRPr kumimoji="1" lang="zh-CN" altLang="en-US" sz="2000" b="1" dirty="0">
              <a:solidFill>
                <a:srgbClr val="0070C0"/>
              </a:solidFill>
            </a:endParaRPr>
          </a:p>
          <a:p>
            <a:endParaRPr kumimoji="1" lang="zh-CN" altLang="en-US" sz="2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6192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43104B3-0DAF-5A82-3C25-405ECA7DE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86" y="0"/>
            <a:ext cx="4223834" cy="250790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FC65430-5935-C69B-8FE5-05BE86DA8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059" y="0"/>
            <a:ext cx="4223834" cy="250790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AA93303-C8CF-C2C0-A89E-4489156E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786" y="2507901"/>
            <a:ext cx="4356100" cy="26543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49CE0FB-3B68-DB85-21D3-F016DE7F7E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4059" y="2507901"/>
            <a:ext cx="4470400" cy="26543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6CFE9F4-0004-F57C-32AF-97F12BFF50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5264" y="5336197"/>
            <a:ext cx="7772400" cy="891422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3E2A9BB0-71A1-9CC2-A40A-9634FD6B7C39}"/>
              </a:ext>
            </a:extLst>
          </p:cNvPr>
          <p:cNvSpPr txBox="1"/>
          <p:nvPr/>
        </p:nvSpPr>
        <p:spPr>
          <a:xfrm>
            <a:off x="0" y="75657"/>
            <a:ext cx="3305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Imitation</a:t>
            </a:r>
            <a:endParaRPr kumimoji="1" lang="zh-CN" altLang="en-US" sz="2000" b="1" dirty="0">
              <a:solidFill>
                <a:srgbClr val="0070C0"/>
              </a:solidFill>
            </a:endParaRPr>
          </a:p>
          <a:p>
            <a:endParaRPr kumimoji="1" lang="zh-CN" altLang="en-US" sz="2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963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>
            <a:extLst>
              <a:ext uri="{FF2B5EF4-FFF2-40B4-BE49-F238E27FC236}">
                <a16:creationId xmlns:a16="http://schemas.microsoft.com/office/drawing/2014/main" id="{3E2A9BB0-71A1-9CC2-A40A-9634FD6B7C39}"/>
              </a:ext>
            </a:extLst>
          </p:cNvPr>
          <p:cNvSpPr txBox="1"/>
          <p:nvPr/>
        </p:nvSpPr>
        <p:spPr>
          <a:xfrm>
            <a:off x="0" y="75657"/>
            <a:ext cx="33059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TFT</a:t>
            </a:r>
            <a:endParaRPr kumimoji="1" lang="zh-CN" altLang="en-US" sz="2000" b="1" dirty="0">
              <a:solidFill>
                <a:srgbClr val="0070C0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73A1986-2520-9A00-D8F4-0CE1761E19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131"/>
          <a:stretch/>
        </p:blipFill>
        <p:spPr>
          <a:xfrm>
            <a:off x="637477" y="275712"/>
            <a:ext cx="11113931" cy="182932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0203214-4051-FA5B-E300-F406B150EBE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5343"/>
          <a:stretch/>
        </p:blipFill>
        <p:spPr>
          <a:xfrm>
            <a:off x="637477" y="2105033"/>
            <a:ext cx="11113930" cy="189161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66F1A01-F9B7-B61E-129F-F4E1C9FC27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142"/>
          <a:stretch/>
        </p:blipFill>
        <p:spPr>
          <a:xfrm>
            <a:off x="637476" y="3934354"/>
            <a:ext cx="11113930" cy="187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5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>
            <a:extLst>
              <a:ext uri="{FF2B5EF4-FFF2-40B4-BE49-F238E27FC236}">
                <a16:creationId xmlns:a16="http://schemas.microsoft.com/office/drawing/2014/main" id="{3E2A9BB0-71A1-9CC2-A40A-9634FD6B7C39}"/>
              </a:ext>
            </a:extLst>
          </p:cNvPr>
          <p:cNvSpPr txBox="1"/>
          <p:nvPr/>
        </p:nvSpPr>
        <p:spPr>
          <a:xfrm>
            <a:off x="0" y="75657"/>
            <a:ext cx="33059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0070C0"/>
                </a:solidFill>
              </a:rPr>
              <a:t>TFT</a:t>
            </a:r>
            <a:endParaRPr kumimoji="1" lang="zh-CN" altLang="en-US" sz="2000" b="1" dirty="0">
              <a:solidFill>
                <a:srgbClr val="0070C0"/>
              </a:solidFill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C201762-0E07-2A37-2D1B-4BC8A2843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067" y="0"/>
            <a:ext cx="4000354" cy="237521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E5AFC64-1E63-AED4-02E1-67ECCA0C9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858" y="0"/>
            <a:ext cx="4000354" cy="237521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5E686C9-5A9D-6F3A-F23E-EABA05F8B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067" y="2754264"/>
            <a:ext cx="4000354" cy="237521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05C8F7F1-5694-F02E-F67D-5BC5E85711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608" y="2801717"/>
            <a:ext cx="4000354" cy="2375210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CEA8099B-D1DC-8B01-3810-279A67F86401}"/>
              </a:ext>
            </a:extLst>
          </p:cNvPr>
          <p:cNvSpPr txBox="1"/>
          <p:nvPr/>
        </p:nvSpPr>
        <p:spPr>
          <a:xfrm>
            <a:off x="1165938" y="2278497"/>
            <a:ext cx="4154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rgbClr val="C00000"/>
                </a:solidFill>
              </a:rPr>
              <a:t>cooperators form a </a:t>
            </a:r>
            <a:r>
              <a:rPr lang="en-US" altLang="zh-CN" sz="1400" b="1" dirty="0">
                <a:solidFill>
                  <a:srgbClr val="C00000"/>
                </a:solidFill>
              </a:rPr>
              <a:t>giant connected component</a:t>
            </a:r>
            <a:r>
              <a:rPr lang="en-US" altLang="zh-CN" sz="1400" dirty="0">
                <a:solidFill>
                  <a:srgbClr val="C00000"/>
                </a:solidFill>
              </a:rPr>
              <a:t> in the random network.</a:t>
            </a:r>
            <a:endParaRPr kumimoji="1" lang="zh-CN" altLang="en-US" sz="1400" dirty="0">
              <a:solidFill>
                <a:srgbClr val="C00000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EB50742-68C1-095B-FF58-A66CDE94FCD2}"/>
              </a:ext>
            </a:extLst>
          </p:cNvPr>
          <p:cNvSpPr txBox="1"/>
          <p:nvPr/>
        </p:nvSpPr>
        <p:spPr>
          <a:xfrm>
            <a:off x="5856607" y="2278497"/>
            <a:ext cx="43264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400">
                <a:solidFill>
                  <a:srgbClr val="C00000"/>
                </a:solidFill>
              </a:defRPr>
            </a:lvl1pPr>
          </a:lstStyle>
          <a:p>
            <a:r>
              <a:rPr lang="en-US" altLang="zh-CN" dirty="0"/>
              <a:t>cooperation exists but is </a:t>
            </a:r>
            <a:r>
              <a:rPr lang="en-US" altLang="zh-CN" b="1" dirty="0"/>
              <a:t>extremely fragmented</a:t>
            </a:r>
            <a:r>
              <a:rPr lang="en-US" altLang="zh-CN" dirty="0"/>
              <a:t> (largest C cluster ≈ single node).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6CF906A-5804-CD13-8E35-A6B16B6197C3}"/>
              </a:ext>
            </a:extLst>
          </p:cNvPr>
          <p:cNvSpPr txBox="1"/>
          <p:nvPr/>
        </p:nvSpPr>
        <p:spPr>
          <a:xfrm>
            <a:off x="2701562" y="4975585"/>
            <a:ext cx="67888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400">
                <a:solidFill>
                  <a:srgbClr val="C00000"/>
                </a:solidFill>
              </a:defRPr>
            </a:lvl1pPr>
          </a:lstStyle>
          <a:p>
            <a:r>
              <a:rPr lang="en-US" altLang="zh-CN" b="1" dirty="0" err="1"/>
              <a:t>bistability</a:t>
            </a:r>
            <a:r>
              <a:rPr lang="en-US" altLang="zh-CN" dirty="0"/>
              <a:t> (both </a:t>
            </a:r>
            <a:r>
              <a:rPr lang="en-US" altLang="zh-CN" dirty="0" err="1"/>
              <a:t>allC</a:t>
            </a:r>
            <a:r>
              <a:rPr lang="en-US" altLang="zh-CN" dirty="0"/>
              <a:t> and </a:t>
            </a:r>
            <a:r>
              <a:rPr lang="en-US" altLang="zh-CN" dirty="0" err="1"/>
              <a:t>allD</a:t>
            </a:r>
            <a:r>
              <a:rPr lang="en-US" altLang="zh-CN" dirty="0"/>
              <a:t> occur fairly often) and </a:t>
            </a:r>
            <a:r>
              <a:rPr lang="en-US" altLang="zh-CN" b="1" dirty="0"/>
              <a:t>cluster spikes.</a:t>
            </a:r>
            <a:endParaRPr lang="zh-CN" altLang="en-US" b="1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30C95F00-6F54-CC3B-1A6B-0960C35AE1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905" y="5630677"/>
            <a:ext cx="9727906" cy="1095194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9ADE73A1-2B4E-E00D-80A7-F18897631B5B}"/>
              </a:ext>
            </a:extLst>
          </p:cNvPr>
          <p:cNvSpPr txBox="1"/>
          <p:nvPr/>
        </p:nvSpPr>
        <p:spPr>
          <a:xfrm>
            <a:off x="1577310" y="5226187"/>
            <a:ext cx="9411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400" b="1">
                <a:solidFill>
                  <a:srgbClr val="C00000"/>
                </a:solidFill>
              </a:defRPr>
            </a:lvl1pPr>
          </a:lstStyle>
          <a:p>
            <a:r>
              <a:rPr lang="en-US" altLang="zh-CN" dirty="0"/>
              <a:t>the signature of a transition region: small parameter changes flip which absorbing basin wins.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54020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156</Words>
  <Application>Microsoft Macintosh PowerPoint</Application>
  <PresentationFormat>宽屏</PresentationFormat>
  <Paragraphs>29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Zheng Xia</dc:creator>
  <cp:lastModifiedBy>Zheng Xia</cp:lastModifiedBy>
  <cp:revision>5</cp:revision>
  <dcterms:created xsi:type="dcterms:W3CDTF">2026-01-25T16:14:43Z</dcterms:created>
  <dcterms:modified xsi:type="dcterms:W3CDTF">2026-01-25T23:41:35Z</dcterms:modified>
</cp:coreProperties>
</file>